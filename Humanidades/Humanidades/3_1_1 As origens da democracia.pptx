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86" r:id="rId3"/>
    <p:sldMasterId id="2147483692" r:id="rId4"/>
    <p:sldMasterId id="2147483694" r:id="rId5"/>
    <p:sldMasterId id="2147483690" r:id="rId6"/>
  </p:sldMasterIdLst>
  <p:handoutMasterIdLst>
    <p:handoutMasterId r:id="rId14"/>
  </p:handoutMasterIdLst>
  <p:sldIdLst>
    <p:sldId id="256" r:id="rId7"/>
    <p:sldId id="258" r:id="rId8"/>
    <p:sldId id="260" r:id="rId9"/>
    <p:sldId id="284" r:id="rId10"/>
    <p:sldId id="265" r:id="rId11"/>
    <p:sldId id="285" r:id="rId12"/>
    <p:sldId id="261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61F2"/>
    <a:srgbClr val="77E0B8"/>
    <a:srgbClr val="6B4D89"/>
    <a:srgbClr val="6353D9"/>
    <a:srgbClr val="7163DC"/>
    <a:srgbClr val="77CCE0"/>
    <a:srgbClr val="9C51F3"/>
    <a:srgbClr val="66C6DC"/>
    <a:srgbClr val="3AD298"/>
    <a:srgbClr val="5D2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91" d="100"/>
          <a:sy n="91" d="100"/>
        </p:scale>
        <p:origin x="72" y="2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25/02/2023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</inkml:traceFormat>
        <inkml:channelProperties>
          <inkml:channelProperty channel="X" name="resolution" value="85.03937" units="1/cm"/>
          <inkml:channelProperty channel="Y" name="resolution" value="85.2071" units="1/cm"/>
        </inkml:channelProperties>
      </inkml:inkSource>
      <inkml:timestamp xml:id="ts0" timeString="2023-01-06T11:55:43.668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B2D8BAD-C297-46D9-8994-14F0B2C07867}" emma:medium="tactile" emma:mode="ink">
          <msink:context xmlns:msink="http://schemas.microsoft.com/ink/2010/main" type="writingRegion" rotatedBoundingBox="11924,1589 11939,1589 11939,1604 11924,1604"/>
        </emma:interpretation>
      </emma:emma>
    </inkml:annotationXML>
    <inkml:traceGroup>
      <inkml:annotationXML>
        <emma:emma xmlns:emma="http://www.w3.org/2003/04/emma" version="1.0">
          <emma:interpretation id="{F8EF5AB9-AE54-4879-AEDF-C86044F28EED}" emma:medium="tactile" emma:mode="ink">
            <msink:context xmlns:msink="http://schemas.microsoft.com/ink/2010/main" type="paragraph" rotatedBoundingBox="11924,1589 11939,1589 11939,1604 11924,16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052DBAC-DC13-4462-9716-21CCD4400961}" emma:medium="tactile" emma:mode="ink">
              <msink:context xmlns:msink="http://schemas.microsoft.com/ink/2010/main" type="line" rotatedBoundingBox="11924,1589 11939,1589 11939,1604 11924,1604"/>
            </emma:interpretation>
          </emma:emma>
        </inkml:annotationXML>
        <inkml:traceGroup>
          <inkml:annotationXML>
            <emma:emma xmlns:emma="http://www.w3.org/2003/04/emma" version="1.0">
              <emma:interpretation id="{A390B88D-9DA7-4D06-8843-810B032BF1FF}" emma:medium="tactile" emma:mode="ink">
                <msink:context xmlns:msink="http://schemas.microsoft.com/ink/2010/main" type="inkWord" rotatedBoundingBox="11924,1589 11939,1589 11939,1604 11924,1604"/>
              </emma:interpretation>
              <emma:one-of disjunction-type="recognition" id="oneOf0">
                <emma:interpretation id="interp0" emma:lang="pt-BR" emma:confidence="0">
                  <emma:literal>.</emma:literal>
                </emma:interpretation>
                <emma:interpretation id="interp1" emma:lang="pt-BR" emma:confidence="0">
                  <emma:literal>-</emma:literal>
                </emma:interpretation>
                <emma:interpretation id="interp2" emma:lang="pt-BR" emma:confidence="0">
                  <emma:literal>:</emma:literal>
                </emma:interpretation>
                <emma:interpretation id="interp3" emma:lang="pt-BR" emma:confidence="0">
                  <emma:literal>~</emma:literal>
                </emma:interpretation>
                <emma:interpretation id="interp4" emma:lang="pt-BR" emma:confidence="0">
                  <emma:literal>_</emma:literal>
                </emma:interpretation>
              </emma:one-of>
            </emma:emma>
          </inkml:annotationXML>
          <inkml:trace contextRef="#ctx0" brushRef="#br0">0 0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" units="cm"/>
          <inkml:channel name="Y" type="integer" max="1440" units="cm"/>
        </inkml:traceFormat>
        <inkml:channelProperties>
          <inkml:channelProperty channel="X" name="resolution" value="85.03937" units="1/cm"/>
          <inkml:channelProperty channel="Y" name="resolution" value="85.2071" units="1/cm"/>
        </inkml:channelProperties>
      </inkml:inkSource>
      <inkml:timestamp xml:id="ts0" timeString="2023-01-06T11:55:43.668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 contextRef="#ctx0" brushRef="#br0">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44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37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38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1"/>
          <a:stretch/>
        </p:blipFill>
        <p:spPr>
          <a:xfrm>
            <a:off x="-32080" y="0"/>
            <a:ext cx="12234074" cy="6904356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=""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345721"/>
            <a:ext cx="12255676" cy="4382219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=""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457864"/>
            <a:ext cx="12244875" cy="417518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=""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133" y="169305"/>
            <a:ext cx="871679" cy="91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89" y="6349925"/>
            <a:ext cx="1606086" cy="14487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4"/>
          <a:stretch/>
        </p:blipFill>
        <p:spPr>
          <a:xfrm>
            <a:off x="112000" y="1025611"/>
            <a:ext cx="11911126" cy="511569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8"/>
          <a:stretch/>
        </p:blipFill>
        <p:spPr>
          <a:xfrm>
            <a:off x="0" y="1232"/>
            <a:ext cx="12196482" cy="116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89" y="6349925"/>
            <a:ext cx="1606086" cy="14487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8"/>
          <a:stretch/>
        </p:blipFill>
        <p:spPr>
          <a:xfrm>
            <a:off x="0" y="1232"/>
            <a:ext cx="12196482" cy="116190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00" y="1100642"/>
            <a:ext cx="11911126" cy="505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5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="" xmlns:a16="http://schemas.microsoft.com/office/drawing/2014/main" id="{6FE69AA5-7D2B-4FEE-933D-65619DF206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507" cy="6858000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89" y="6349925"/>
            <a:ext cx="1606086" cy="14487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8"/>
          <a:stretch/>
        </p:blipFill>
        <p:spPr>
          <a:xfrm>
            <a:off x="0" y="0"/>
            <a:ext cx="12196482" cy="116190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31"/>
          <a:stretch/>
        </p:blipFill>
        <p:spPr>
          <a:xfrm>
            <a:off x="112000" y="1100642"/>
            <a:ext cx="6535543" cy="505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83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-1" y="2777983"/>
            <a:ext cx="121920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i="1" dirty="0" smtClean="0">
                <a:solidFill>
                  <a:srgbClr val="6353D9"/>
                </a:solidFill>
                <a:latin typeface="Trebuchet MS" panose="020B0603020202020204" pitchFamily="34" charset="0"/>
              </a:rPr>
              <a:t>HUMANIDADES</a:t>
            </a:r>
            <a:endParaRPr lang="pt-BR" sz="6600" b="1" i="1" dirty="0">
              <a:solidFill>
                <a:srgbClr val="6353D9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321086" y="4683356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Paulo Veríssimo de Aguiar</a:t>
            </a:r>
          </a:p>
        </p:txBody>
      </p:sp>
    </p:spTree>
    <p:extLst>
      <p:ext uri="{BB962C8B-B14F-4D97-AF65-F5344CB8AC3E}">
        <p14:creationId xmlns:p14="http://schemas.microsoft.com/office/powerpoint/2010/main" val="79709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="" xmlns:a16="http://schemas.microsoft.com/office/drawing/2014/main" id="{83433BBC-8481-4702-BA12-BCD091ADA0BE}"/>
              </a:ext>
            </a:extLst>
          </p:cNvPr>
          <p:cNvSpPr txBox="1"/>
          <p:nvPr/>
        </p:nvSpPr>
        <p:spPr>
          <a:xfrm>
            <a:off x="-1" y="2650983"/>
            <a:ext cx="12192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 smtClean="0"/>
              <a:t>As </a:t>
            </a:r>
            <a:r>
              <a:rPr lang="pt-BR" sz="5400" dirty="0"/>
              <a:t>origens da </a:t>
            </a:r>
            <a:r>
              <a:rPr lang="pt-BR" sz="5400" dirty="0" smtClean="0"/>
              <a:t>democracia.</a:t>
            </a:r>
          </a:p>
        </p:txBody>
      </p:sp>
    </p:spTree>
    <p:extLst>
      <p:ext uri="{BB962C8B-B14F-4D97-AF65-F5344CB8AC3E}">
        <p14:creationId xmlns:p14="http://schemas.microsoft.com/office/powerpoint/2010/main" val="102735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79055"/>
            <a:ext cx="10170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/>
              <a:t>O conhecimento humano e a hierarquização das ciências</a:t>
            </a:r>
            <a:endParaRPr lang="pt-BR" sz="3200" b="1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Tinta 10"/>
              <p14:cNvContentPartPr/>
              <p14:nvPr/>
            </p14:nvContentPartPr>
            <p14:xfrm>
              <a:off x="4292777" y="572312"/>
              <a:ext cx="360" cy="360"/>
            </p14:xfrm>
          </p:contentPart>
        </mc:Choice>
        <mc:Fallback xmlns="">
          <p:pic>
            <p:nvPicPr>
              <p:cNvPr id="11" name="Tinta 1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4777" y="554312"/>
                <a:ext cx="36360" cy="363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Elipse 11"/>
          <p:cNvSpPr/>
          <p:nvPr/>
        </p:nvSpPr>
        <p:spPr>
          <a:xfrm>
            <a:off x="285654" y="2292016"/>
            <a:ext cx="2715380" cy="247542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 smtClean="0"/>
              <a:t>Divisão clássica das ciências</a:t>
            </a:r>
            <a:endParaRPr lang="pt-BR" sz="2800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4578750" y="1455712"/>
            <a:ext cx="32460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 smtClean="0">
                <a:solidFill>
                  <a:schemeClr val="accent1"/>
                </a:solidFill>
              </a:rPr>
              <a:t>C. Teoréticas</a:t>
            </a:r>
          </a:p>
          <a:p>
            <a:r>
              <a:rPr lang="pt-BR" sz="2800" dirty="0" smtClean="0"/>
              <a:t>    </a:t>
            </a:r>
            <a:r>
              <a:rPr lang="pt-BR" sz="2000" dirty="0" smtClean="0"/>
              <a:t>(</a:t>
            </a:r>
            <a:r>
              <a:rPr lang="pt-BR" sz="2000" i="1" dirty="0" smtClean="0"/>
              <a:t>Contemplação pura</a:t>
            </a:r>
            <a:r>
              <a:rPr lang="pt-BR" sz="2000" dirty="0" smtClean="0"/>
              <a:t>)</a:t>
            </a:r>
          </a:p>
          <a:p>
            <a:endParaRPr lang="pt-BR" sz="2800" dirty="0" smtClean="0"/>
          </a:p>
          <a:p>
            <a:endParaRPr lang="pt-BR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 smtClean="0">
                <a:solidFill>
                  <a:schemeClr val="accent6">
                    <a:lumMod val="75000"/>
                  </a:schemeClr>
                </a:solidFill>
              </a:rPr>
              <a:t>C. Práticas</a:t>
            </a:r>
          </a:p>
          <a:p>
            <a:r>
              <a:rPr lang="pt-BR" dirty="0" smtClean="0"/>
              <a:t>(</a:t>
            </a:r>
            <a:r>
              <a:rPr lang="pt-BR" i="1" dirty="0" smtClean="0"/>
              <a:t>Práxis </a:t>
            </a:r>
            <a:r>
              <a:rPr lang="pt-BR" i="1" dirty="0"/>
              <a:t>- agente </a:t>
            </a:r>
            <a:r>
              <a:rPr lang="pt-BR" i="1" dirty="0" smtClean="0"/>
              <a:t>= </a:t>
            </a:r>
            <a:r>
              <a:rPr lang="pt-BR" i="1" dirty="0"/>
              <a:t>finalidade </a:t>
            </a:r>
            <a:r>
              <a:rPr lang="pt-BR" dirty="0" smtClean="0"/>
              <a:t>)</a:t>
            </a:r>
          </a:p>
          <a:p>
            <a:endParaRPr lang="pt-BR" sz="2800" dirty="0" smtClean="0"/>
          </a:p>
          <a:p>
            <a:endParaRPr lang="pt-BR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 smtClean="0">
                <a:solidFill>
                  <a:srgbClr val="C00000"/>
                </a:solidFill>
              </a:rPr>
              <a:t>C. </a:t>
            </a:r>
            <a:r>
              <a:rPr lang="pt-BR" sz="2800" dirty="0" err="1" smtClean="0">
                <a:solidFill>
                  <a:srgbClr val="C00000"/>
                </a:solidFill>
              </a:rPr>
              <a:t>Poiéticas</a:t>
            </a:r>
            <a:endParaRPr lang="pt-BR" sz="2800" dirty="0" smtClean="0">
              <a:solidFill>
                <a:srgbClr val="C00000"/>
              </a:solidFill>
            </a:endParaRPr>
          </a:p>
          <a:p>
            <a:r>
              <a:rPr lang="pt-BR" dirty="0" smtClean="0"/>
              <a:t>(</a:t>
            </a:r>
            <a:r>
              <a:rPr lang="pt-BR" i="1" dirty="0" smtClean="0"/>
              <a:t>Técnica – agente + finalidade</a:t>
            </a:r>
            <a:r>
              <a:rPr lang="pt-BR" dirty="0" smtClean="0"/>
              <a:t>)</a:t>
            </a:r>
          </a:p>
          <a:p>
            <a:endParaRPr lang="pt-BR" sz="2800" dirty="0"/>
          </a:p>
        </p:txBody>
      </p:sp>
      <p:sp>
        <p:nvSpPr>
          <p:cNvPr id="7" name="Chave esquerda 6"/>
          <p:cNvSpPr/>
          <p:nvPr/>
        </p:nvSpPr>
        <p:spPr>
          <a:xfrm>
            <a:off x="3256126" y="1585449"/>
            <a:ext cx="1242468" cy="4242977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have esquerda 7"/>
          <p:cNvSpPr/>
          <p:nvPr/>
        </p:nvSpPr>
        <p:spPr>
          <a:xfrm>
            <a:off x="7283672" y="2587077"/>
            <a:ext cx="879500" cy="165429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7904907" y="2752506"/>
            <a:ext cx="3448196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pt-BR" sz="4000" dirty="0" smtClean="0"/>
              <a:t>Ética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pt-BR" sz="4000" i="1" dirty="0" smtClean="0">
                <a:solidFill>
                  <a:schemeClr val="accent6">
                    <a:lumMod val="75000"/>
                  </a:schemeClr>
                </a:solidFill>
              </a:rPr>
              <a:t>Política</a:t>
            </a:r>
          </a:p>
        </p:txBody>
      </p:sp>
      <p:sp>
        <p:nvSpPr>
          <p:cNvPr id="3" name="Seta para cima 2"/>
          <p:cNvSpPr/>
          <p:nvPr/>
        </p:nvSpPr>
        <p:spPr>
          <a:xfrm>
            <a:off x="5716745" y="4090369"/>
            <a:ext cx="279206" cy="67707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cima 9"/>
          <p:cNvSpPr/>
          <p:nvPr/>
        </p:nvSpPr>
        <p:spPr>
          <a:xfrm>
            <a:off x="5716745" y="2413969"/>
            <a:ext cx="279206" cy="67707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79055"/>
            <a:ext cx="10170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A invenção da política</a:t>
            </a:r>
            <a:endParaRPr lang="pt-BR" sz="3600" b="1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Tinta 10"/>
              <p14:cNvContentPartPr/>
              <p14:nvPr/>
            </p14:nvContentPartPr>
            <p14:xfrm>
              <a:off x="4292777" y="572312"/>
              <a:ext cx="360" cy="360"/>
            </p14:xfrm>
          </p:contentPart>
        </mc:Choice>
        <mc:Fallback xmlns="">
          <p:pic>
            <p:nvPicPr>
              <p:cNvPr id="11" name="Tinta 1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4777" y="554312"/>
                <a:ext cx="36360" cy="363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Elipse 11"/>
          <p:cNvSpPr/>
          <p:nvPr/>
        </p:nvSpPr>
        <p:spPr>
          <a:xfrm>
            <a:off x="4521660" y="1367802"/>
            <a:ext cx="2109486" cy="151500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600" dirty="0" smtClean="0"/>
              <a:t>A Política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238700" y="3205414"/>
            <a:ext cx="5519767" cy="1200329"/>
          </a:xfrm>
          <a:prstGeom prst="rect">
            <a:avLst/>
          </a:prstGeom>
          <a:solidFill>
            <a:srgbClr val="77E0B8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I</a:t>
            </a:r>
            <a:r>
              <a:rPr lang="pt-BR" sz="2400" dirty="0" smtClean="0"/>
              <a:t>nvenção </a:t>
            </a:r>
            <a:r>
              <a:rPr lang="pt-BR" sz="2400" dirty="0" err="1" smtClean="0"/>
              <a:t>grego-romana</a:t>
            </a:r>
            <a:r>
              <a:rPr lang="pt-BR" sz="2400" dirty="0" smtClean="0"/>
              <a:t>  para se contrapor ao poder despótico (“</a:t>
            </a:r>
            <a:r>
              <a:rPr lang="pt-BR" sz="2400" i="1" dirty="0" err="1" smtClean="0"/>
              <a:t>despótes</a:t>
            </a:r>
            <a:r>
              <a:rPr lang="pt-BR" sz="2400" dirty="0" smtClean="0"/>
              <a:t>”, gr.) ou patriarcal (“</a:t>
            </a:r>
            <a:r>
              <a:rPr lang="pt-BR" sz="2400" i="1" dirty="0" smtClean="0"/>
              <a:t>pater-famílias</a:t>
            </a:r>
            <a:r>
              <a:rPr lang="pt-BR" sz="2400" dirty="0" smtClean="0"/>
              <a:t>”, lat.).</a:t>
            </a:r>
            <a:endParaRPr lang="pt-BR" sz="2400" dirty="0"/>
          </a:p>
        </p:txBody>
      </p:sp>
      <p:sp>
        <p:nvSpPr>
          <p:cNvPr id="10" name="Seta para baixo 9"/>
          <p:cNvSpPr/>
          <p:nvPr/>
        </p:nvSpPr>
        <p:spPr>
          <a:xfrm>
            <a:off x="8857142" y="4405743"/>
            <a:ext cx="282881" cy="44221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255987" y="3205414"/>
            <a:ext cx="5000775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400" i="1" dirty="0" smtClean="0"/>
              <a:t>“</a:t>
            </a:r>
            <a:r>
              <a:rPr lang="pt-BR" sz="2400" i="1" dirty="0" err="1" smtClean="0"/>
              <a:t>Ta</a:t>
            </a:r>
            <a:r>
              <a:rPr lang="pt-BR" sz="2400" i="1" dirty="0" smtClean="0"/>
              <a:t> </a:t>
            </a:r>
            <a:r>
              <a:rPr lang="pt-BR" sz="2400" i="1" dirty="0" err="1" smtClean="0"/>
              <a:t>politika</a:t>
            </a:r>
            <a:r>
              <a:rPr lang="pt-BR" sz="2400" i="1" dirty="0" smtClean="0"/>
              <a:t>” (Gr.) – “Res publica” (Lat.)</a:t>
            </a:r>
            <a:r>
              <a:rPr lang="pt-BR" sz="2400" i="1" dirty="0" smtClean="0">
                <a:sym typeface="Wingdings" panose="05000000000000000000" pitchFamily="2" charset="2"/>
              </a:rPr>
              <a:t> </a:t>
            </a:r>
          </a:p>
          <a:p>
            <a:endParaRPr lang="pt-BR" sz="2400" i="1" dirty="0">
              <a:sym typeface="Wingdings" panose="05000000000000000000" pitchFamily="2" charset="2"/>
            </a:endParaRPr>
          </a:p>
          <a:p>
            <a:r>
              <a:rPr lang="pt-BR" sz="2400" i="1" dirty="0" smtClean="0">
                <a:sym typeface="Wingdings" panose="05000000000000000000" pitchFamily="2" charset="2"/>
              </a:rPr>
              <a:t>          </a:t>
            </a:r>
            <a:r>
              <a:rPr lang="pt-BR" sz="2400" i="1" dirty="0" err="1" smtClean="0">
                <a:sym typeface="Wingdings" panose="05000000000000000000" pitchFamily="2" charset="2"/>
              </a:rPr>
              <a:t>Pólis</a:t>
            </a:r>
            <a:r>
              <a:rPr lang="pt-BR" sz="2400" i="1" dirty="0" smtClean="0">
                <a:sym typeface="Wingdings" panose="05000000000000000000" pitchFamily="2" charset="2"/>
              </a:rPr>
              <a:t>                           </a:t>
            </a:r>
            <a:r>
              <a:rPr lang="pt-BR" sz="2400" i="1" dirty="0" err="1" smtClean="0">
                <a:sym typeface="Wingdings" panose="05000000000000000000" pitchFamily="2" charset="2"/>
              </a:rPr>
              <a:t>Civitas</a:t>
            </a:r>
            <a:endParaRPr lang="pt-BR" sz="2400" i="1" dirty="0" smtClean="0"/>
          </a:p>
        </p:txBody>
      </p:sp>
      <p:sp>
        <p:nvSpPr>
          <p:cNvPr id="16" name="Seta para baixo 15"/>
          <p:cNvSpPr/>
          <p:nvPr/>
        </p:nvSpPr>
        <p:spPr>
          <a:xfrm>
            <a:off x="2614935" y="2097404"/>
            <a:ext cx="282881" cy="945943"/>
          </a:xfrm>
          <a:prstGeom prst="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726124" y="5126620"/>
            <a:ext cx="4060500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i="1" dirty="0" smtClean="0"/>
              <a:t>  </a:t>
            </a:r>
            <a:r>
              <a:rPr lang="pt-BR" sz="2000" i="1" dirty="0" err="1" smtClean="0"/>
              <a:t>Politikós</a:t>
            </a:r>
            <a:r>
              <a:rPr lang="pt-BR" sz="2000" i="1" dirty="0" smtClean="0"/>
              <a:t>                </a:t>
            </a:r>
            <a:r>
              <a:rPr lang="pt-BR" sz="2000" dirty="0" smtClean="0"/>
              <a:t>=</a:t>
            </a:r>
            <a:r>
              <a:rPr lang="pt-BR" sz="2000" i="1" dirty="0" smtClean="0"/>
              <a:t>               Civis </a:t>
            </a:r>
            <a:r>
              <a:rPr lang="pt-BR" i="1" dirty="0" smtClean="0"/>
              <a:t>                                                         </a:t>
            </a:r>
            <a:endParaRPr lang="pt-BR" i="1" dirty="0"/>
          </a:p>
        </p:txBody>
      </p:sp>
      <p:cxnSp>
        <p:nvCxnSpPr>
          <p:cNvPr id="18" name="Conector de seta reta 17"/>
          <p:cNvCxnSpPr/>
          <p:nvPr/>
        </p:nvCxnSpPr>
        <p:spPr>
          <a:xfrm>
            <a:off x="1273668" y="3649728"/>
            <a:ext cx="582" cy="337957"/>
          </a:xfrm>
          <a:prstGeom prst="straightConnector1">
            <a:avLst/>
          </a:prstGeom>
          <a:ln>
            <a:solidFill>
              <a:srgbClr val="5161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>
            <a:off x="1294026" y="4431999"/>
            <a:ext cx="5713" cy="506793"/>
          </a:xfrm>
          <a:prstGeom prst="straightConnector1">
            <a:avLst/>
          </a:prstGeom>
          <a:ln>
            <a:solidFill>
              <a:srgbClr val="5161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eta para baixo 28"/>
          <p:cNvSpPr/>
          <p:nvPr/>
        </p:nvSpPr>
        <p:spPr>
          <a:xfrm rot="16200000">
            <a:off x="7704253" y="928494"/>
            <a:ext cx="282881" cy="2429094"/>
          </a:xfrm>
          <a:prstGeom prst="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30" name="Seta para baixo 29"/>
          <p:cNvSpPr/>
          <p:nvPr/>
        </p:nvSpPr>
        <p:spPr>
          <a:xfrm>
            <a:off x="8857144" y="2097404"/>
            <a:ext cx="282881" cy="945943"/>
          </a:xfrm>
          <a:prstGeom prst="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3877474" y="4431999"/>
            <a:ext cx="5713" cy="506793"/>
          </a:xfrm>
          <a:prstGeom prst="straightConnector1">
            <a:avLst/>
          </a:prstGeom>
          <a:ln>
            <a:solidFill>
              <a:srgbClr val="5161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eta para baixo 24"/>
          <p:cNvSpPr/>
          <p:nvPr/>
        </p:nvSpPr>
        <p:spPr>
          <a:xfrm rot="5400000">
            <a:off x="3463068" y="1225891"/>
            <a:ext cx="282881" cy="1834301"/>
          </a:xfrm>
          <a:prstGeom prst="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6681172" y="4949596"/>
            <a:ext cx="4634820" cy="830997"/>
          </a:xfrm>
          <a:prstGeom prst="rect">
            <a:avLst/>
          </a:prstGeom>
          <a:solidFill>
            <a:srgbClr val="77E0B8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 smtClean="0">
                <a:solidFill>
                  <a:srgbClr val="C00000"/>
                </a:solidFill>
              </a:rPr>
              <a:t>Isonomia</a:t>
            </a:r>
            <a:r>
              <a:rPr lang="pt-BR" sz="2400" dirty="0" smtClean="0"/>
              <a:t> = Igualdade perante a lei.</a:t>
            </a:r>
          </a:p>
          <a:p>
            <a:pPr algn="ctr"/>
            <a:r>
              <a:rPr lang="pt-BR" sz="2400" b="1" i="1" dirty="0" err="1" smtClean="0">
                <a:solidFill>
                  <a:srgbClr val="C00000"/>
                </a:solidFill>
              </a:rPr>
              <a:t>Isegoria</a:t>
            </a:r>
            <a:r>
              <a:rPr lang="pt-BR" sz="2400" dirty="0" smtClean="0"/>
              <a:t> = Igualdade de discurso.</a:t>
            </a:r>
            <a:endParaRPr lang="pt-BR" sz="2400" dirty="0"/>
          </a:p>
        </p:txBody>
      </p:sp>
      <p:cxnSp>
        <p:nvCxnSpPr>
          <p:cNvPr id="31" name="Conector de seta reta 30"/>
          <p:cNvCxnSpPr/>
          <p:nvPr/>
        </p:nvCxnSpPr>
        <p:spPr>
          <a:xfrm flipV="1">
            <a:off x="4907858" y="5365094"/>
            <a:ext cx="1576704" cy="1"/>
          </a:xfrm>
          <a:prstGeom prst="straightConnector1">
            <a:avLst/>
          </a:prstGeom>
          <a:ln>
            <a:solidFill>
              <a:srgbClr val="5161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 flipV="1">
            <a:off x="1758646" y="4191265"/>
            <a:ext cx="1576704" cy="1"/>
          </a:xfrm>
          <a:prstGeom prst="straightConnector1">
            <a:avLst/>
          </a:prstGeom>
          <a:ln>
            <a:solidFill>
              <a:srgbClr val="5161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33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79055"/>
            <a:ext cx="10170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Características da política.</a:t>
            </a:r>
            <a:endParaRPr lang="pt-BR" sz="36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438513" y="1381691"/>
            <a:ext cx="2352011" cy="58477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/>
              <a:t>Política           </a:t>
            </a:r>
            <a:endParaRPr lang="pt-BR" sz="32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635195" y="2992549"/>
            <a:ext cx="4606900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 smtClean="0"/>
              <a:t>Impessoalidade do poder.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 smtClean="0"/>
              <a:t>Autoridades Civis x Militares.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 smtClean="0"/>
              <a:t>Poder mágico-religioso x Poder laico.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/>
              <a:t>Leia como vontade </a:t>
            </a:r>
            <a:r>
              <a:rPr lang="pt-BR" sz="2400" dirty="0" smtClean="0"/>
              <a:t>coletiva.</a:t>
            </a:r>
            <a:endParaRPr lang="pt-BR" sz="24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400" dirty="0" smtClean="0"/>
          </a:p>
        </p:txBody>
      </p:sp>
      <p:sp>
        <p:nvSpPr>
          <p:cNvPr id="11" name="CaixaDeTexto 10"/>
          <p:cNvSpPr txBox="1"/>
          <p:nvPr/>
        </p:nvSpPr>
        <p:spPr>
          <a:xfrm>
            <a:off x="6544325" y="2992549"/>
            <a:ext cx="4069429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 smtClean="0"/>
              <a:t>Criação de instituições e funções públicas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 smtClean="0"/>
              <a:t>Criação do erário público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 smtClean="0"/>
              <a:t>Criação dos espaços públicos (</a:t>
            </a:r>
            <a:r>
              <a:rPr lang="pt-BR" sz="2400" i="1" dirty="0" smtClean="0"/>
              <a:t>Assembleia</a:t>
            </a:r>
            <a:r>
              <a:rPr lang="pt-BR" sz="2400" dirty="0" smtClean="0"/>
              <a:t> </a:t>
            </a:r>
            <a:r>
              <a:rPr lang="pt-BR" sz="2400" i="1" dirty="0" smtClean="0"/>
              <a:t>Senado</a:t>
            </a:r>
            <a:r>
              <a:rPr lang="pt-BR" sz="2400" dirty="0" smtClean="0"/>
              <a:t>)</a:t>
            </a:r>
            <a:endParaRPr lang="pt-BR" sz="2400" dirty="0"/>
          </a:p>
        </p:txBody>
      </p:sp>
      <p:cxnSp>
        <p:nvCxnSpPr>
          <p:cNvPr id="13" name="Conector reto 12"/>
          <p:cNvCxnSpPr/>
          <p:nvPr/>
        </p:nvCxnSpPr>
        <p:spPr>
          <a:xfrm flipH="1">
            <a:off x="2669908" y="1724097"/>
            <a:ext cx="1768605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 flipH="1">
            <a:off x="6790526" y="1674079"/>
            <a:ext cx="16694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2669908" y="1724097"/>
            <a:ext cx="0" cy="1040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>
            <a:off x="8459945" y="1674079"/>
            <a:ext cx="0" cy="1040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33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79055"/>
            <a:ext cx="10170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/>
              <a:t>O que é política.</a:t>
            </a:r>
            <a:endParaRPr lang="pt-BR" sz="36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438513" y="1381691"/>
            <a:ext cx="2352011" cy="58477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/>
              <a:t>Política           </a:t>
            </a:r>
            <a:endParaRPr lang="pt-BR" sz="32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635195" y="2992549"/>
            <a:ext cx="3975395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2800" dirty="0" smtClean="0"/>
              <a:t>Algo inventado pelos gregos e romanos como solução ou resposta para as diferenças, os conflitos e para as contradições inerentes à sociedade. </a:t>
            </a:r>
            <a:endParaRPr lang="pt-BR" sz="28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6544325" y="2992549"/>
            <a:ext cx="4069429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2400" dirty="0" smtClean="0"/>
              <a:t>Como alternativa ao poder despótico, </a:t>
            </a:r>
            <a:r>
              <a:rPr lang="pt-BR" sz="2400" dirty="0"/>
              <a:t>as diferenças, os conflitos e as </a:t>
            </a:r>
            <a:r>
              <a:rPr lang="pt-BR" sz="2400" dirty="0" smtClean="0"/>
              <a:t>contradições não podem se esconder sob o poder divino e muito menos se fechar à temporalidade (</a:t>
            </a:r>
            <a:r>
              <a:rPr lang="pt-BR" sz="2400" i="1" dirty="0" smtClean="0"/>
              <a:t>historicidade</a:t>
            </a:r>
            <a:r>
              <a:rPr lang="pt-BR" sz="2400" dirty="0" smtClean="0"/>
              <a:t>) e às mudanças.</a:t>
            </a:r>
            <a:endParaRPr lang="pt-BR" sz="2400" dirty="0"/>
          </a:p>
        </p:txBody>
      </p:sp>
      <p:cxnSp>
        <p:nvCxnSpPr>
          <p:cNvPr id="13" name="Conector reto 12"/>
          <p:cNvCxnSpPr/>
          <p:nvPr/>
        </p:nvCxnSpPr>
        <p:spPr>
          <a:xfrm flipH="1">
            <a:off x="2669908" y="1724097"/>
            <a:ext cx="1768605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 flipH="1">
            <a:off x="6790526" y="1674079"/>
            <a:ext cx="16694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2669908" y="1724097"/>
            <a:ext cx="0" cy="1040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>
            <a:off x="8459945" y="1674079"/>
            <a:ext cx="0" cy="1040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56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 - Título, texto e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4 - Título e citação de ite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7358</TotalTime>
  <Words>222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6</vt:i4>
      </vt:variant>
      <vt:variant>
        <vt:lpstr>Títulos de slides</vt:lpstr>
      </vt:variant>
      <vt:variant>
        <vt:i4>7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1 - Capa</vt:lpstr>
      <vt:lpstr>2 - Subdivisão do assunto principal</vt:lpstr>
      <vt:lpstr>3 - Título e texto</vt:lpstr>
      <vt:lpstr>4 - Título, texto e imagem</vt:lpstr>
      <vt:lpstr>1_4 - Título e citação de itens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Paulo Veríssimo de Aguiar</cp:lastModifiedBy>
  <cp:revision>122</cp:revision>
  <dcterms:created xsi:type="dcterms:W3CDTF">2020-01-14T17:16:45Z</dcterms:created>
  <dcterms:modified xsi:type="dcterms:W3CDTF">2023-02-25T14:33:47Z</dcterms:modified>
</cp:coreProperties>
</file>