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86" r:id="rId3"/>
    <p:sldMasterId id="2147483692" r:id="rId4"/>
    <p:sldMasterId id="2147483694" r:id="rId5"/>
    <p:sldMasterId id="2147483690" r:id="rId6"/>
  </p:sldMasterIdLst>
  <p:handoutMasterIdLst>
    <p:handoutMasterId r:id="rId18"/>
  </p:handoutMasterIdLst>
  <p:sldIdLst>
    <p:sldId id="256" r:id="rId7"/>
    <p:sldId id="258" r:id="rId8"/>
    <p:sldId id="260" r:id="rId9"/>
    <p:sldId id="264" r:id="rId10"/>
    <p:sldId id="265" r:id="rId11"/>
    <p:sldId id="266" r:id="rId12"/>
    <p:sldId id="267" r:id="rId13"/>
    <p:sldId id="281" r:id="rId14"/>
    <p:sldId id="283" r:id="rId15"/>
    <p:sldId id="282" r:id="rId16"/>
    <p:sldId id="26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4D89"/>
    <a:srgbClr val="6353D9"/>
    <a:srgbClr val="7163DC"/>
    <a:srgbClr val="77CCE0"/>
    <a:srgbClr val="9C51F3"/>
    <a:srgbClr val="66C6DC"/>
    <a:srgbClr val="5161F2"/>
    <a:srgbClr val="3AD298"/>
    <a:srgbClr val="77E0B8"/>
    <a:srgbClr val="5D2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91" d="100"/>
          <a:sy n="91" d="100"/>
        </p:scale>
        <p:origin x="72" y="2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26/08/2023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</inkml:traceFormat>
        <inkml:channelProperties>
          <inkml:channelProperty channel="X" name="resolution" value="85.03937" units="1/cm"/>
          <inkml:channelProperty channel="Y" name="resolution" value="85.2071" units="1/cm"/>
        </inkml:channelProperties>
      </inkml:inkSource>
      <inkml:timestamp xml:id="ts0" timeString="2023-01-06T11:55:43.668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B2D8BAD-C297-46D9-8994-14F0B2C07867}" emma:medium="tactile" emma:mode="ink">
          <msink:context xmlns:msink="http://schemas.microsoft.com/ink/2010/main" type="writingRegion" rotatedBoundingBox="11924,1589 11939,1589 11939,1604 11924,1604"/>
        </emma:interpretation>
      </emma:emma>
    </inkml:annotationXML>
    <inkml:traceGroup>
      <inkml:annotationXML>
        <emma:emma xmlns:emma="http://www.w3.org/2003/04/emma" version="1.0">
          <emma:interpretation id="{F8EF5AB9-AE54-4879-AEDF-C86044F28EED}" emma:medium="tactile" emma:mode="ink">
            <msink:context xmlns:msink="http://schemas.microsoft.com/ink/2010/main" type="paragraph" rotatedBoundingBox="11924,1589 11939,1589 11939,1604 11924,16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052DBAC-DC13-4462-9716-21CCD4400961}" emma:medium="tactile" emma:mode="ink">
              <msink:context xmlns:msink="http://schemas.microsoft.com/ink/2010/main" type="line" rotatedBoundingBox="11924,1589 11939,1589 11939,1604 11924,1604"/>
            </emma:interpretation>
          </emma:emma>
        </inkml:annotationXML>
        <inkml:traceGroup>
          <inkml:annotationXML>
            <emma:emma xmlns:emma="http://www.w3.org/2003/04/emma" version="1.0">
              <emma:interpretation id="{A390B88D-9DA7-4D06-8843-810B032BF1FF}" emma:medium="tactile" emma:mode="ink">
                <msink:context xmlns:msink="http://schemas.microsoft.com/ink/2010/main" type="inkWord" rotatedBoundingBox="11924,1589 11939,1589 11939,1604 11924,1604"/>
              </emma:interpretation>
              <emma:one-of disjunction-type="recognition" id="oneOf0">
                <emma:interpretation id="interp0" emma:lang="pt-BR" emma:confidence="0">
                  <emma:literal>.</emma:literal>
                </emma:interpretation>
                <emma:interpretation id="interp1" emma:lang="pt-BR" emma:confidence="0">
                  <emma:literal>-</emma:literal>
                </emma:interpretation>
                <emma:interpretation id="interp2" emma:lang="pt-BR" emma:confidence="0">
                  <emma:literal>:</emma:literal>
                </emma:interpretation>
                <emma:interpretation id="interp3" emma:lang="pt-BR" emma:confidence="0">
                  <emma:literal>~</emma:literal>
                </emma:interpretation>
                <emma:interpretation id="interp4" emma:lang="pt-BR" emma:confidence="0">
                  <emma:literal>_</emma:literal>
                </emma:interpretation>
              </emma:one-of>
            </emma:emma>
          </inkml:annotationXML>
          <inkml:trace contextRef="#ctx0" brushRef="#br0">0 0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44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37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38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1"/>
          <a:stretch/>
        </p:blipFill>
        <p:spPr>
          <a:xfrm>
            <a:off x="-32080" y="0"/>
            <a:ext cx="12234074" cy="6904356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C8AB8969-F6C8-4E34-9E94-3475775C31C1}"/>
              </a:ext>
            </a:extLst>
          </p:cNvPr>
          <p:cNvSpPr/>
          <p:nvPr userDrawn="1"/>
        </p:nvSpPr>
        <p:spPr>
          <a:xfrm>
            <a:off x="-42881" y="1345721"/>
            <a:ext cx="12255676" cy="4382219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2B68C534-7803-414E-8BA1-6969B51E56A5}"/>
              </a:ext>
            </a:extLst>
          </p:cNvPr>
          <p:cNvSpPr/>
          <p:nvPr userDrawn="1"/>
        </p:nvSpPr>
        <p:spPr>
          <a:xfrm>
            <a:off x="-32080" y="1457864"/>
            <a:ext cx="12244875" cy="417518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133" y="169305"/>
            <a:ext cx="871679" cy="91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9" y="6349925"/>
            <a:ext cx="1606086" cy="14487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4"/>
          <a:stretch/>
        </p:blipFill>
        <p:spPr>
          <a:xfrm>
            <a:off x="112000" y="1025611"/>
            <a:ext cx="11911126" cy="511569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8"/>
          <a:stretch/>
        </p:blipFill>
        <p:spPr>
          <a:xfrm>
            <a:off x="0" y="1232"/>
            <a:ext cx="12196482" cy="116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9" y="6349925"/>
            <a:ext cx="1606086" cy="14487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8"/>
          <a:stretch/>
        </p:blipFill>
        <p:spPr>
          <a:xfrm>
            <a:off x="0" y="1232"/>
            <a:ext cx="12196482" cy="116190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00" y="1100642"/>
            <a:ext cx="11911126" cy="50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5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6FE69AA5-7D2B-4FEE-933D-65619DF206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507" cy="6858000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9" y="6349925"/>
            <a:ext cx="1606086" cy="14487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8"/>
          <a:stretch/>
        </p:blipFill>
        <p:spPr>
          <a:xfrm>
            <a:off x="0" y="0"/>
            <a:ext cx="12196482" cy="116190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31"/>
          <a:stretch/>
        </p:blipFill>
        <p:spPr>
          <a:xfrm>
            <a:off x="112000" y="1100642"/>
            <a:ext cx="6535543" cy="50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3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-1" y="2777983"/>
            <a:ext cx="12192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i="1" dirty="0" smtClean="0">
                <a:solidFill>
                  <a:srgbClr val="6353D9"/>
                </a:solidFill>
                <a:latin typeface="Trebuchet MS" panose="020B0603020202020204" pitchFamily="34" charset="0"/>
              </a:rPr>
              <a:t>HUMANIDADES</a:t>
            </a:r>
            <a:endParaRPr lang="pt-BR" sz="4000" b="1" i="1" dirty="0">
              <a:solidFill>
                <a:srgbClr val="6353D9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321086" y="4683356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Paulo Veríssimo de Aguiar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168" y="2522498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9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83433BBC-8481-4702-BA12-BCD091ADA0BE}"/>
              </a:ext>
            </a:extLst>
          </p:cNvPr>
          <p:cNvSpPr txBox="1"/>
          <p:nvPr/>
        </p:nvSpPr>
        <p:spPr>
          <a:xfrm>
            <a:off x="-1" y="2650983"/>
            <a:ext cx="12192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/>
              <a:t>A esfera dos valores e a ética da </a:t>
            </a:r>
            <a:r>
              <a:rPr lang="pt-BR" sz="5400" dirty="0" smtClean="0"/>
              <a:t>alteridade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445" y="944984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5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O Mundo</a:t>
            </a:r>
            <a:endParaRPr lang="pt-BR" sz="3600" b="1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Tinta 10"/>
              <p14:cNvContentPartPr/>
              <p14:nvPr/>
            </p14:nvContentPartPr>
            <p14:xfrm>
              <a:off x="4292777" y="572312"/>
              <a:ext cx="360" cy="360"/>
            </p14:xfrm>
          </p:contentPart>
        </mc:Choice>
        <mc:Fallback xmlns="">
          <p:pic>
            <p:nvPicPr>
              <p:cNvPr id="11" name="Tinta 1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4777" y="554312"/>
                <a:ext cx="36360" cy="363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Elipse 11"/>
          <p:cNvSpPr/>
          <p:nvPr/>
        </p:nvSpPr>
        <p:spPr>
          <a:xfrm>
            <a:off x="2066239" y="1363654"/>
            <a:ext cx="2162019" cy="187234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Esfera dos </a:t>
            </a:r>
          </a:p>
          <a:p>
            <a:pPr algn="ctr"/>
            <a:r>
              <a:rPr lang="pt-BR" sz="2400" dirty="0" smtClean="0"/>
              <a:t>fatos</a:t>
            </a:r>
            <a:endParaRPr lang="pt-BR" sz="2400" dirty="0"/>
          </a:p>
        </p:txBody>
      </p:sp>
      <p:sp>
        <p:nvSpPr>
          <p:cNvPr id="13" name="Elipse 12"/>
          <p:cNvSpPr/>
          <p:nvPr/>
        </p:nvSpPr>
        <p:spPr>
          <a:xfrm>
            <a:off x="8297275" y="1419497"/>
            <a:ext cx="2013674" cy="1872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Esfera dos</a:t>
            </a:r>
          </a:p>
          <a:p>
            <a:pPr algn="ctr"/>
            <a:r>
              <a:rPr lang="pt-BR" sz="2400" dirty="0" smtClean="0"/>
              <a:t>valores</a:t>
            </a:r>
            <a:endParaRPr lang="pt-BR" sz="24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4949826" y="2159726"/>
            <a:ext cx="1584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/>
              <a:t>X</a:t>
            </a:r>
          </a:p>
        </p:txBody>
      </p:sp>
      <p:sp>
        <p:nvSpPr>
          <p:cNvPr id="17" name="Seta para baixo 16"/>
          <p:cNvSpPr/>
          <p:nvPr/>
        </p:nvSpPr>
        <p:spPr>
          <a:xfrm>
            <a:off x="3110238" y="3378925"/>
            <a:ext cx="74023" cy="6008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 para baixo 17"/>
          <p:cNvSpPr/>
          <p:nvPr/>
        </p:nvSpPr>
        <p:spPr>
          <a:xfrm>
            <a:off x="9304112" y="3378925"/>
            <a:ext cx="92437" cy="6008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502571" y="4066903"/>
            <a:ext cx="49559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 smtClean="0"/>
              <a:t>Se aqui podemos nos valer do método científico, com </a:t>
            </a:r>
            <a:r>
              <a:rPr lang="pt-BR" sz="2800" dirty="0" smtClean="0"/>
              <a:t>base </a:t>
            </a:r>
            <a:r>
              <a:rPr lang="pt-BR" sz="2800" dirty="0" smtClean="0"/>
              <a:t>na análise e no experimento,</a:t>
            </a:r>
            <a:endParaRPr lang="pt-BR" sz="2800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6891837" y="4066902"/>
            <a:ext cx="49169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c</a:t>
            </a:r>
            <a:r>
              <a:rPr lang="pt-BR" sz="2800" dirty="0" smtClean="0"/>
              <a:t>omo </a:t>
            </a:r>
            <a:r>
              <a:rPr lang="pt-BR" sz="2800" dirty="0" smtClean="0"/>
              <a:t>se dará a fundamentação para a ação no âmbito prático, do comportamento?</a:t>
            </a:r>
            <a:endParaRPr lang="pt-BR" sz="2800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140" y="5796071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60DA118C-3652-4E1E-9573-E46AFF1ADA5D}"/>
              </a:ext>
            </a:extLst>
          </p:cNvPr>
          <p:cNvSpPr txBox="1"/>
          <p:nvPr/>
        </p:nvSpPr>
        <p:spPr>
          <a:xfrm>
            <a:off x="527432" y="1504800"/>
            <a:ext cx="59425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dirty="0" smtClean="0"/>
              <a:t>Partimos de uma </a:t>
            </a:r>
            <a:r>
              <a:rPr lang="pt-BR" sz="3000" dirty="0" smtClean="0"/>
              <a:t>concepção que considera a “ética” como sendo </a:t>
            </a:r>
            <a:r>
              <a:rPr lang="pt-BR" sz="3000" dirty="0"/>
              <a:t>o</a:t>
            </a:r>
            <a:r>
              <a:rPr lang="pt-BR" sz="3000" dirty="0" smtClean="0"/>
              <a:t> </a:t>
            </a:r>
            <a:r>
              <a:rPr lang="pt-BR" sz="3000" dirty="0" smtClean="0"/>
              <a:t>conjunto </a:t>
            </a:r>
            <a:r>
              <a:rPr lang="pt-BR" sz="3000" dirty="0" smtClean="0"/>
              <a:t>dos </a:t>
            </a:r>
            <a:r>
              <a:rPr lang="pt-BR" sz="3000" dirty="0" smtClean="0"/>
              <a:t>valores e princípios que os indivíduos recolhem e acolhem do ambiente social/grupal onde vivem, por </a:t>
            </a:r>
            <a:r>
              <a:rPr lang="pt-BR" sz="3000" dirty="0" smtClean="0"/>
              <a:t>ser, essa herança, </a:t>
            </a:r>
            <a:r>
              <a:rPr lang="pt-BR" sz="3000" dirty="0" smtClean="0"/>
              <a:t>útil e necessária para se viver uma “vida boa” ou para se alcançar o “bem viver”.</a:t>
            </a:r>
            <a:endParaRPr lang="pt-BR" sz="3000" dirty="0">
              <a:solidFill>
                <a:srgbClr val="00206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79CF684A-8306-487E-B1F0-1A294D63FE0B}"/>
              </a:ext>
            </a:extLst>
          </p:cNvPr>
          <p:cNvSpPr txBox="1"/>
          <p:nvPr/>
        </p:nvSpPr>
        <p:spPr>
          <a:xfrm>
            <a:off x="443211" y="179055"/>
            <a:ext cx="10170543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A ética</a:t>
            </a:r>
            <a:r>
              <a:rPr lang="pt-BR" sz="3600" dirty="0"/>
              <a:t/>
            </a:r>
            <a:br>
              <a:rPr lang="pt-BR" sz="3600" dirty="0"/>
            </a:br>
            <a:endParaRPr lang="pt-BR" sz="3500" b="1" dirty="0">
              <a:solidFill>
                <a:schemeClr val="bg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8804366" y="2020388"/>
            <a:ext cx="3307263" cy="30218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/>
              <a:t>Esfera dos</a:t>
            </a:r>
          </a:p>
          <a:p>
            <a:pPr algn="ctr"/>
            <a:r>
              <a:rPr lang="pt-BR" sz="4000" dirty="0" smtClean="0"/>
              <a:t>valores</a:t>
            </a:r>
            <a:endParaRPr lang="pt-BR" sz="40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64" y="5942773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8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A minha identidade e a identidade do outro</a:t>
            </a:r>
            <a:endParaRPr lang="pt-BR" sz="36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43211" y="1580216"/>
            <a:ext cx="1038300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 smtClean="0"/>
              <a:t>        Identidade (Eu)                </a:t>
            </a:r>
            <a:r>
              <a:rPr lang="pt-BR" sz="3200" dirty="0" err="1" smtClean="0"/>
              <a:t>vs</a:t>
            </a:r>
            <a:r>
              <a:rPr lang="pt-BR" sz="3200" dirty="0" smtClean="0"/>
              <a:t>           Alteridade ( Outro)</a:t>
            </a:r>
          </a:p>
          <a:p>
            <a:pPr algn="just"/>
            <a:endParaRPr lang="pt-BR" sz="3200" dirty="0" smtClean="0"/>
          </a:p>
          <a:p>
            <a:pPr algn="just"/>
            <a:r>
              <a:rPr lang="pt-BR" sz="3200" dirty="0"/>
              <a:t> </a:t>
            </a:r>
            <a:r>
              <a:rPr lang="pt-BR" sz="3200" dirty="0" smtClean="0"/>
              <a:t>            </a:t>
            </a:r>
            <a:endParaRPr lang="pt-BR" sz="3200" dirty="0"/>
          </a:p>
          <a:p>
            <a:pPr algn="just"/>
            <a:endParaRPr lang="pt-BR" sz="2800" dirty="0"/>
          </a:p>
        </p:txBody>
      </p:sp>
      <p:sp>
        <p:nvSpPr>
          <p:cNvPr id="4" name="Seta para baixo 3"/>
          <p:cNvSpPr/>
          <p:nvPr/>
        </p:nvSpPr>
        <p:spPr>
          <a:xfrm>
            <a:off x="2368733" y="2133600"/>
            <a:ext cx="367936" cy="1297577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80358" y="3641705"/>
            <a:ext cx="37446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 smtClean="0"/>
              <a:t>Algo que se constrói a partir das vivências e experiências que se dão no interior do grupo a que se pertence.</a:t>
            </a:r>
            <a:endParaRPr lang="pt-BR" sz="2800" dirty="0"/>
          </a:p>
        </p:txBody>
      </p:sp>
      <p:sp>
        <p:nvSpPr>
          <p:cNvPr id="6" name="Seta para baixo 5"/>
          <p:cNvSpPr/>
          <p:nvPr/>
        </p:nvSpPr>
        <p:spPr>
          <a:xfrm>
            <a:off x="7881257" y="2133599"/>
            <a:ext cx="383177" cy="129757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6303011" y="3984559"/>
            <a:ext cx="4310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i="1" dirty="0" err="1" smtClean="0"/>
              <a:t>Alteritas</a:t>
            </a:r>
            <a:r>
              <a:rPr lang="pt-BR" sz="2800" i="1" dirty="0" smtClean="0"/>
              <a:t> - </a:t>
            </a:r>
            <a:r>
              <a:rPr lang="pt-BR" sz="2800" dirty="0" smtClean="0"/>
              <a:t>“</a:t>
            </a:r>
            <a:r>
              <a:rPr lang="pt-BR" sz="2800" i="1" dirty="0" err="1" smtClean="0"/>
              <a:t>alter</a:t>
            </a:r>
            <a:r>
              <a:rPr lang="pt-BR" sz="2800" dirty="0"/>
              <a:t>” (“</a:t>
            </a:r>
            <a:r>
              <a:rPr lang="pt-BR" sz="2800" i="1" dirty="0"/>
              <a:t>outro</a:t>
            </a:r>
            <a:r>
              <a:rPr lang="pt-BR" sz="2800" dirty="0"/>
              <a:t>”) + “</a:t>
            </a:r>
            <a:r>
              <a:rPr lang="pt-BR" sz="2800" i="1" dirty="0"/>
              <a:t>itas</a:t>
            </a:r>
            <a:r>
              <a:rPr lang="pt-BR" sz="2800" dirty="0"/>
              <a:t>” (“</a:t>
            </a:r>
            <a:r>
              <a:rPr lang="pt-BR" sz="2800" i="1" dirty="0"/>
              <a:t>ser</a:t>
            </a:r>
            <a:r>
              <a:rPr lang="pt-BR" sz="2800" dirty="0" smtClean="0"/>
              <a:t>”) = “Ser o outro”</a:t>
            </a:r>
            <a:endParaRPr lang="pt-BR" sz="28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434" y="5888474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3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Alteridade</a:t>
            </a:r>
            <a:endParaRPr lang="pt-BR" sz="36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43211" y="1501839"/>
            <a:ext cx="103830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dirty="0" smtClean="0"/>
              <a:t>A </a:t>
            </a:r>
            <a:r>
              <a:rPr lang="pt-BR" sz="3600" dirty="0"/>
              <a:t>origem etimológica da palavra alteridade, nos remete a um sentido radical de equivalência. </a:t>
            </a:r>
            <a:endParaRPr lang="pt-BR" sz="3600" dirty="0" smtClean="0"/>
          </a:p>
          <a:p>
            <a:pPr algn="just"/>
            <a:endParaRPr lang="pt-BR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dirty="0" smtClean="0"/>
              <a:t>Se já parece ser muito esperar que as pessoas ajam com ética, não será demais esperar que nós todos possamos viver de acordo com uma ética da alteridade? As pessoas querem isto?</a:t>
            </a:r>
            <a:endParaRPr lang="pt-BR" sz="3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01" y="5900892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6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Uma ética possível</a:t>
            </a:r>
            <a:endParaRPr lang="pt-BR" sz="36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43211" y="1501839"/>
            <a:ext cx="1038300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dirty="0" smtClean="0"/>
              <a:t>Devemos estar cientes </a:t>
            </a:r>
            <a:r>
              <a:rPr lang="pt-BR" sz="3200" dirty="0"/>
              <a:t>da impossibilidade de se tomar ao pé da letra o radicalismo original do </a:t>
            </a:r>
            <a:r>
              <a:rPr lang="pt-BR" sz="3200" dirty="0" smtClean="0"/>
              <a:t>termo.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dirty="0" smtClean="0"/>
              <a:t>Mas, o grande desafio que impõe a todos nós hoje passa pela esfera dos valores.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dirty="0" smtClean="0"/>
              <a:t>A preservação da vida humana, e em geral, em nosso planeta, no momento em que nos encontramos, depende de uma nova maneira de convivência.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01" y="5900892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1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Alteridade</a:t>
            </a:r>
            <a:endParaRPr lang="pt-BR" sz="36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43211" y="1501839"/>
            <a:ext cx="103830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 smtClean="0"/>
              <a:t>Exercer </a:t>
            </a:r>
            <a:r>
              <a:rPr lang="pt-BR" sz="3200" dirty="0"/>
              <a:t>a alteridade sugere um caminho marcado por ações </a:t>
            </a:r>
            <a:r>
              <a:rPr lang="pt-BR" sz="3200" dirty="0" smtClean="0"/>
              <a:t>de:</a:t>
            </a:r>
          </a:p>
          <a:p>
            <a:pPr algn="just"/>
            <a:endParaRPr lang="pt-BR" sz="32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dirty="0" smtClean="0"/>
              <a:t>Empatia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dirty="0" smtClean="0"/>
              <a:t>Respeito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dirty="0" smtClean="0"/>
              <a:t>Tolerância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dirty="0" smtClean="0"/>
              <a:t>reconhecimento </a:t>
            </a:r>
            <a:r>
              <a:rPr lang="pt-BR" sz="3200" dirty="0"/>
              <a:t>da individualidade e das especificidades do </a:t>
            </a:r>
            <a:r>
              <a:rPr lang="pt-BR" sz="3200" dirty="0" smtClean="0"/>
              <a:t>outro</a:t>
            </a:r>
          </a:p>
          <a:p>
            <a:pPr algn="just"/>
            <a:endParaRPr lang="pt-BR" sz="32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01" y="5900892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3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83908" y="195444"/>
            <a:ext cx="61006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Ser com o outro</a:t>
            </a:r>
            <a:endParaRPr lang="pt-BR" sz="4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01" y="5900892"/>
            <a:ext cx="3534256" cy="80502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809698" y="1891621"/>
            <a:ext cx="107564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b="1" dirty="0"/>
              <a:t>Empatia</a:t>
            </a:r>
            <a:r>
              <a:rPr lang="pt-BR" sz="2800" dirty="0"/>
              <a:t> </a:t>
            </a:r>
            <a:r>
              <a:rPr lang="pt-BR" sz="2800" dirty="0" smtClean="0"/>
              <a:t>(</a:t>
            </a:r>
            <a:r>
              <a:rPr lang="pt-BR" sz="2800" i="1" dirty="0" smtClean="0"/>
              <a:t>Emoção</a:t>
            </a:r>
            <a:r>
              <a:rPr lang="pt-BR" sz="2800" dirty="0" smtClean="0"/>
              <a:t>) </a:t>
            </a:r>
            <a:r>
              <a:rPr lang="pt-BR" sz="2800" dirty="0"/>
              <a:t>– Ação de se colocar no lugar de outra pessoa, se esforçando para compreender a motivação que levou a pessoa a agir dessa ou daquela maneira em determina circunstância</a:t>
            </a:r>
            <a:r>
              <a:rPr lang="pt-BR" sz="2800" dirty="0" smtClean="0"/>
              <a:t>.</a:t>
            </a:r>
          </a:p>
          <a:p>
            <a:pPr algn="just"/>
            <a:endParaRPr lang="pt-BR" sz="2800" dirty="0"/>
          </a:p>
          <a:p>
            <a:pPr algn="just"/>
            <a:endParaRPr lang="pt-BR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b="1" dirty="0"/>
              <a:t>Alteridade</a:t>
            </a:r>
            <a:r>
              <a:rPr lang="pt-BR" sz="2800" dirty="0"/>
              <a:t> </a:t>
            </a:r>
            <a:r>
              <a:rPr lang="pt-BR" sz="2800" dirty="0" smtClean="0"/>
              <a:t>(</a:t>
            </a:r>
            <a:r>
              <a:rPr lang="pt-BR" sz="2800" i="1" dirty="0" smtClean="0"/>
              <a:t>Razão</a:t>
            </a:r>
            <a:r>
              <a:rPr lang="pt-BR" sz="2800" dirty="0" smtClean="0"/>
              <a:t>) </a:t>
            </a:r>
            <a:r>
              <a:rPr lang="pt-BR" sz="2800" dirty="0"/>
              <a:t>– É o modo como se observa e se reconhece a diferença no/do outro. É entender </a:t>
            </a:r>
            <a:r>
              <a:rPr lang="pt-BR" sz="2800" dirty="0" smtClean="0"/>
              <a:t>o que torna </a:t>
            </a:r>
            <a:r>
              <a:rPr lang="pt-BR" sz="2800" dirty="0"/>
              <a:t>o outro diferente. Trata-se de um processo de interação e socialização no convívio do </a:t>
            </a:r>
            <a:r>
              <a:rPr lang="pt-BR" sz="2800" b="1" i="1" dirty="0"/>
              <a:t>eu</a:t>
            </a:r>
            <a:r>
              <a:rPr lang="pt-BR" sz="2800" dirty="0"/>
              <a:t> e o </a:t>
            </a:r>
            <a:r>
              <a:rPr lang="pt-BR" sz="2800" b="1" i="1" dirty="0"/>
              <a:t>outro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387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Alteridade</a:t>
            </a:r>
            <a:endParaRPr lang="pt-BR" sz="36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43211" y="2172399"/>
            <a:ext cx="1038300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dirty="0" smtClean="0"/>
              <a:t>Ao assumir </a:t>
            </a:r>
            <a:r>
              <a:rPr lang="pt-BR" sz="3600" smtClean="0"/>
              <a:t>essas atitudes, </a:t>
            </a:r>
            <a:r>
              <a:rPr lang="pt-BR" sz="3600" dirty="0" smtClean="0"/>
              <a:t>nós podemos dar o passo seguinte, </a:t>
            </a:r>
            <a:r>
              <a:rPr lang="pt-BR" sz="3600" dirty="0"/>
              <a:t>nos </a:t>
            </a:r>
            <a:r>
              <a:rPr lang="pt-BR" sz="3600" dirty="0" smtClean="0"/>
              <a:t>habilitando </a:t>
            </a:r>
            <a:r>
              <a:rPr lang="pt-BR" sz="3600" dirty="0"/>
              <a:t>a </a:t>
            </a:r>
            <a:r>
              <a:rPr lang="pt-BR" sz="3600" dirty="0" smtClean="0"/>
              <a:t>reconhecer, colaborar e trabalhar para que se efetive o </a:t>
            </a:r>
            <a:r>
              <a:rPr lang="pt-BR" sz="3600" dirty="0"/>
              <a:t>direito de existir de outras pessoas e de outras culturas singulares, subjetivas, que pensam, agem e entendem o mundo a seu modo, de suas próprias maneiras.</a:t>
            </a:r>
          </a:p>
          <a:p>
            <a:pPr algn="just"/>
            <a:endParaRPr lang="pt-BR" sz="28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01" y="5900892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473" y="3918529"/>
            <a:ext cx="3534256" cy="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 - Título, texto e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4 - Título e citação de ite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7092</TotalTime>
  <Words>460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6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Arial</vt:lpstr>
      <vt:lpstr>Calibri</vt:lpstr>
      <vt:lpstr>Trebuchet MS</vt:lpstr>
      <vt:lpstr>1 - Capa</vt:lpstr>
      <vt:lpstr>2 - Subdivisão do assunto principal</vt:lpstr>
      <vt:lpstr>3 - Título e texto</vt:lpstr>
      <vt:lpstr>4 - Título, texto e imagem</vt:lpstr>
      <vt:lpstr>1_4 - Título e citação de itens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Paulo Veríssimo de Aguiar</cp:lastModifiedBy>
  <cp:revision>90</cp:revision>
  <dcterms:created xsi:type="dcterms:W3CDTF">2020-01-14T17:16:45Z</dcterms:created>
  <dcterms:modified xsi:type="dcterms:W3CDTF">2023-08-26T09:08:20Z</dcterms:modified>
</cp:coreProperties>
</file>