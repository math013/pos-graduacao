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10287000" cx="18288000"/>
  <p:notesSz cx="6858000" cy="9144000"/>
  <p:embeddedFontLst>
    <p:embeddedFont>
      <p:font typeface="Arial Black"/>
      <p:regular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2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41" roundtripDataSignature="AMtx7mh4LAlgJY/GOw5PtwdbfnzoGAMm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24" orient="horz"/>
        <p:guide pos="576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alBlack-regular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c1ec7221f0c0eb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c1ec7221f0c0eb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647fd22e58b73b9a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647fd22e58b73b9a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647fd22e58b73b9a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647fd22e58b73b9a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6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7"/>
          <p:cNvSpPr txBox="1"/>
          <p:nvPr>
            <p:ph type="ctrTitle"/>
          </p:nvPr>
        </p:nvSpPr>
        <p:spPr>
          <a:xfrm>
            <a:off x="1371600" y="3195640"/>
            <a:ext cx="15544800" cy="2205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7"/>
          <p:cNvSpPr txBox="1"/>
          <p:nvPr>
            <p:ph idx="1" type="subTitle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lvl="0" algn="ctr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5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7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8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8"/>
          <p:cNvSpPr txBox="1"/>
          <p:nvPr>
            <p:ph idx="1" type="body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8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8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8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9"/>
          <p:cNvSpPr txBox="1"/>
          <p:nvPr>
            <p:ph type="title"/>
          </p:nvPr>
        </p:nvSpPr>
        <p:spPr>
          <a:xfrm>
            <a:off x="1444626" y="6610352"/>
            <a:ext cx="15544800" cy="2043113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00"/>
              <a:buFont typeface="Calibri"/>
              <a:buNone/>
              <a:defRPr b="1" sz="71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9"/>
          <p:cNvSpPr txBox="1"/>
          <p:nvPr>
            <p:ph idx="1" type="body"/>
          </p:nvPr>
        </p:nvSpPr>
        <p:spPr>
          <a:xfrm>
            <a:off x="1444626" y="4360072"/>
            <a:ext cx="155448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9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9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0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1" type="body"/>
          </p:nvPr>
        </p:nvSpPr>
        <p:spPr>
          <a:xfrm>
            <a:off x="1828800" y="3600450"/>
            <a:ext cx="16306800" cy="10184607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46100" lvl="0" marL="457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indent="-501650" lvl="1" marL="9144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–"/>
              <a:defRPr sz="4300"/>
            </a:lvl2pPr>
            <a:lvl3pPr indent="-4572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318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indent="-4318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indent="-431800" lvl="5" marL="2743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indent="-431800" lvl="6" marL="3200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indent="-431800" lvl="7" marL="3657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indent="-431800" lvl="8" marL="4114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/>
        </p:txBody>
      </p:sp>
      <p:sp>
        <p:nvSpPr>
          <p:cNvPr id="40" name="Google Shape;40;p40"/>
          <p:cNvSpPr txBox="1"/>
          <p:nvPr>
            <p:ph idx="2" type="body"/>
          </p:nvPr>
        </p:nvSpPr>
        <p:spPr>
          <a:xfrm>
            <a:off x="18440400" y="3600450"/>
            <a:ext cx="16306800" cy="10184607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46100" lvl="0" marL="457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indent="-501650" lvl="1" marL="9144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–"/>
              <a:defRPr sz="4300"/>
            </a:lvl2pPr>
            <a:lvl3pPr indent="-4572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318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indent="-4318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indent="-431800" lvl="5" marL="2743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indent="-431800" lvl="6" marL="3200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indent="-431800" lvl="7" marL="3657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indent="-431800" lvl="8" marL="4114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/>
        </p:txBody>
      </p:sp>
      <p:sp>
        <p:nvSpPr>
          <p:cNvPr id="41" name="Google Shape;41;p40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0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0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1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1"/>
          <p:cNvSpPr txBox="1"/>
          <p:nvPr>
            <p:ph idx="1" type="body"/>
          </p:nvPr>
        </p:nvSpPr>
        <p:spPr>
          <a:xfrm>
            <a:off x="914400" y="2302671"/>
            <a:ext cx="8080376" cy="959643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b="1" sz="4300"/>
            </a:lvl1pPr>
            <a:lvl2pPr indent="-2286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2pPr>
            <a:lvl3pPr indent="-2286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3pPr>
            <a:lvl4pPr indent="-22860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4pPr>
            <a:lvl5pPr indent="-22860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5pPr>
            <a:lvl6pPr indent="-22860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6pPr>
            <a:lvl7pPr indent="-22860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7pPr>
            <a:lvl8pPr indent="-22860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8pPr>
            <a:lvl9pPr indent="-22860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9pPr>
          </a:lstStyle>
          <a:p/>
        </p:txBody>
      </p:sp>
      <p:sp>
        <p:nvSpPr>
          <p:cNvPr id="47" name="Google Shape;47;p41"/>
          <p:cNvSpPr txBox="1"/>
          <p:nvPr>
            <p:ph idx="2" type="body"/>
          </p:nvPr>
        </p:nvSpPr>
        <p:spPr>
          <a:xfrm>
            <a:off x="914400" y="3262313"/>
            <a:ext cx="8080376" cy="5926932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572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1275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indent="-41275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indent="-41275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indent="-41275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indent="-41275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indent="-41275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/>
        </p:txBody>
      </p:sp>
      <p:sp>
        <p:nvSpPr>
          <p:cNvPr id="48" name="Google Shape;48;p41"/>
          <p:cNvSpPr txBox="1"/>
          <p:nvPr>
            <p:ph idx="3" type="body"/>
          </p:nvPr>
        </p:nvSpPr>
        <p:spPr>
          <a:xfrm>
            <a:off x="9290053" y="2302671"/>
            <a:ext cx="8083550" cy="959643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b="1" sz="4300"/>
            </a:lvl1pPr>
            <a:lvl2pPr indent="-2286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2pPr>
            <a:lvl3pPr indent="-2286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3pPr>
            <a:lvl4pPr indent="-22860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4pPr>
            <a:lvl5pPr indent="-22860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5pPr>
            <a:lvl6pPr indent="-22860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6pPr>
            <a:lvl7pPr indent="-22860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7pPr>
            <a:lvl8pPr indent="-22860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8pPr>
            <a:lvl9pPr indent="-22860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9pPr>
          </a:lstStyle>
          <a:p/>
        </p:txBody>
      </p:sp>
      <p:sp>
        <p:nvSpPr>
          <p:cNvPr id="49" name="Google Shape;49;p41"/>
          <p:cNvSpPr txBox="1"/>
          <p:nvPr>
            <p:ph idx="4" type="body"/>
          </p:nvPr>
        </p:nvSpPr>
        <p:spPr>
          <a:xfrm>
            <a:off x="9290053" y="3262313"/>
            <a:ext cx="8083550" cy="5926932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572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1275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indent="-41275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indent="-41275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indent="-41275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indent="-41275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indent="-41275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/>
        </p:txBody>
      </p:sp>
      <p:sp>
        <p:nvSpPr>
          <p:cNvPr id="50" name="Google Shape;50;p41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1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2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2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2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2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3"/>
          <p:cNvSpPr txBox="1"/>
          <p:nvPr>
            <p:ph type="title"/>
          </p:nvPr>
        </p:nvSpPr>
        <p:spPr>
          <a:xfrm>
            <a:off x="914403" y="409575"/>
            <a:ext cx="6016626" cy="1743075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" type="body"/>
          </p:nvPr>
        </p:nvSpPr>
        <p:spPr>
          <a:xfrm>
            <a:off x="7150100" y="409577"/>
            <a:ext cx="10223500" cy="877967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90550" lvl="0" marL="45720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•"/>
              <a:defRPr sz="5700"/>
            </a:lvl1pPr>
            <a:lvl2pPr indent="-546100" lvl="1" marL="9144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–"/>
              <a:defRPr sz="5000"/>
            </a:lvl2pPr>
            <a:lvl3pPr indent="-501650" lvl="2" marL="1371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3pPr>
            <a:lvl4pPr indent="-457200" lvl="3" marL="1828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4pPr>
            <a:lvl5pPr indent="-457200" lvl="4" marL="22860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 sz="3600"/>
            </a:lvl5pPr>
            <a:lvl6pPr indent="-457200" lvl="5" marL="2743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6pPr>
            <a:lvl7pPr indent="-457200" lvl="6" marL="3200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7pPr>
            <a:lvl8pPr indent="-457200" lvl="7" marL="3657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8pPr>
            <a:lvl9pPr indent="-457200" lvl="8" marL="4114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9pPr>
          </a:lstStyle>
          <a:p/>
        </p:txBody>
      </p:sp>
      <p:sp>
        <p:nvSpPr>
          <p:cNvPr id="61" name="Google Shape;61;p43"/>
          <p:cNvSpPr txBox="1"/>
          <p:nvPr>
            <p:ph idx="2" type="body"/>
          </p:nvPr>
        </p:nvSpPr>
        <p:spPr>
          <a:xfrm>
            <a:off x="914403" y="2152652"/>
            <a:ext cx="6016626" cy="7036595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2" name="Google Shape;62;p43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3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3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4"/>
          <p:cNvSpPr txBox="1"/>
          <p:nvPr>
            <p:ph type="title"/>
          </p:nvPr>
        </p:nvSpPr>
        <p:spPr>
          <a:xfrm>
            <a:off x="3584576" y="7200900"/>
            <a:ext cx="10972800" cy="850107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4"/>
          <p:cNvSpPr/>
          <p:nvPr>
            <p:ph idx="2" type="pic"/>
          </p:nvPr>
        </p:nvSpPr>
        <p:spPr>
          <a:xfrm>
            <a:off x="3584576" y="919163"/>
            <a:ext cx="10972800" cy="61722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4"/>
          <p:cNvSpPr txBox="1"/>
          <p:nvPr>
            <p:ph idx="1" type="body"/>
          </p:nvPr>
        </p:nvSpPr>
        <p:spPr>
          <a:xfrm>
            <a:off x="3584576" y="8051007"/>
            <a:ext cx="10972800" cy="1207293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9" name="Google Shape;69;p44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5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5"/>
          <p:cNvSpPr txBox="1"/>
          <p:nvPr>
            <p:ph idx="1" type="body"/>
          </p:nvPr>
        </p:nvSpPr>
        <p:spPr>
          <a:xfrm rot="5400000">
            <a:off x="5749528" y="-2434826"/>
            <a:ext cx="6788945" cy="16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5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5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5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6"/>
          <p:cNvSpPr txBox="1"/>
          <p:nvPr>
            <p:ph type="title"/>
          </p:nvPr>
        </p:nvSpPr>
        <p:spPr>
          <a:xfrm rot="5400000">
            <a:off x="24049434" y="3087291"/>
            <a:ext cx="1316593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6"/>
          <p:cNvSpPr txBox="1"/>
          <p:nvPr>
            <p:ph idx="1" type="body"/>
          </p:nvPr>
        </p:nvSpPr>
        <p:spPr>
          <a:xfrm rot="5400000">
            <a:off x="7437834" y="-4989909"/>
            <a:ext cx="13165932" cy="24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6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6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6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Calibri"/>
              <a:buNone/>
              <a:defRPr b="0" i="0" sz="7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90550" lvl="0" marL="457200" marR="0" rtl="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Char char="•"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461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Char char="–"/>
              <a:defRPr b="0" i="0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01650" lvl="2" marL="13716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200" lvl="3" marL="18288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200" lvl="4" marL="22860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»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57200" lvl="5" marL="2743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57200" lvl="6" marL="32004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57200" lvl="7" marL="36576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57200" lvl="8" marL="41148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6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scikit-learn.org/stable/modules/generated/sklearn.ensemble.BaggingClassifier.html#sklearn.ensemble.BaggingClassifier" TargetMode="External"/><Relationship Id="rId4" Type="http://schemas.openxmlformats.org/officeDocument/2006/relationships/image" Target="../media/image9.png"/><Relationship Id="rId5" Type="http://schemas.openxmlformats.org/officeDocument/2006/relationships/hyperlink" Target="https://scikit-learn.org/stable/modules/generated/sklearn.ensemble.BaggingRegressor.html#sklearn.ensemble.BaggingRegressor" TargetMode="External"/><Relationship Id="rId6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machinelearningmastery.com/bagging-ensemble-with-python/" TargetMode="External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scikit-learn.org/stable/modules/generated/sklearn.ensemble.RandomForestClassifier.html#sklearn.ensemble.RandomForestClassifier" TargetMode="External"/><Relationship Id="rId4" Type="http://schemas.openxmlformats.org/officeDocument/2006/relationships/image" Target="../media/image14.png"/><Relationship Id="rId5" Type="http://schemas.openxmlformats.org/officeDocument/2006/relationships/hyperlink" Target="https://scikit-learn.org/stable/modules/generated/sklearn.ensemble.RandomForestRegressor.html#sklearn.ensemble.RandomForestRegressor" TargetMode="External"/><Relationship Id="rId6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scikit-learn.org/stable/modules/generated/sklearn.ensemble.StackingClassifier.html#sklearn.ensemble.StackingClassifier" TargetMode="External"/><Relationship Id="rId4" Type="http://schemas.openxmlformats.org/officeDocument/2006/relationships/image" Target="../media/image30.png"/><Relationship Id="rId5" Type="http://schemas.openxmlformats.org/officeDocument/2006/relationships/hyperlink" Target="https://scikit-learn.org/stable/modules/generated/sklearn.ensemble.StackingRegressor.html#sklearn.ensemble.StackingRegressor" TargetMode="External"/><Relationship Id="rId6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scikit-learn.org/stable/modules/generated/sklearn.ensemble.GradientBoostingClassifier.html#sklearn.ensemble.GradientBoostingClassifier" TargetMode="External"/><Relationship Id="rId4" Type="http://schemas.openxmlformats.org/officeDocument/2006/relationships/image" Target="../media/image28.png"/><Relationship Id="rId5" Type="http://schemas.openxmlformats.org/officeDocument/2006/relationships/hyperlink" Target="https://scikit-learn.org/stable/modules/generated/sklearn.ensemble.GradientBoostingRegressor.html#sklearn.ensemble.GradientBoostingRegressor" TargetMode="External"/><Relationship Id="rId6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machinelearningmastery.com/gradient-boosting-machine-ensemble-in-python/" TargetMode="External"/><Relationship Id="rId4" Type="http://schemas.openxmlformats.org/officeDocument/2006/relationships/image" Target="../media/image39.png"/><Relationship Id="rId5" Type="http://schemas.openxmlformats.org/officeDocument/2006/relationships/image" Target="../media/image34.png"/><Relationship Id="rId6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scikit-learn.org/stable/modules/generated/sklearn.ensemble.GradientBoostingClassifier.html#sklearn.ensemble.GradientBoostingClassifier" TargetMode="External"/><Relationship Id="rId4" Type="http://schemas.openxmlformats.org/officeDocument/2006/relationships/image" Target="../media/image28.png"/><Relationship Id="rId5" Type="http://schemas.openxmlformats.org/officeDocument/2006/relationships/hyperlink" Target="https://scikit-learn.org/stable/modules/generated/sklearn.ensemble.GradientBoostingRegressor.html#sklearn.ensemble.GradientBoostingRegressor" TargetMode="External"/><Relationship Id="rId6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xgboost.readthedocs.io/en/stable/python/index.html" TargetMode="External"/><Relationship Id="rId4" Type="http://schemas.openxmlformats.org/officeDocument/2006/relationships/image" Target="../media/image43.png"/><Relationship Id="rId5" Type="http://schemas.openxmlformats.org/officeDocument/2006/relationships/hyperlink" Target="https://machinelearningmastery.com/extreme-gradient-boosting-ensemble-in-python/" TargetMode="External"/><Relationship Id="rId6" Type="http://schemas.openxmlformats.org/officeDocument/2006/relationships/image" Target="../media/image4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lightgbm.readthedocs.io/en/latest/index.html" TargetMode="External"/><Relationship Id="rId4" Type="http://schemas.openxmlformats.org/officeDocument/2006/relationships/image" Target="../media/image36.png"/><Relationship Id="rId5" Type="http://schemas.openxmlformats.org/officeDocument/2006/relationships/hyperlink" Target="https://machinelearningmastery.com/light-gradient-boosted-machine-lightgbm-ensemble/" TargetMode="External"/><Relationship Id="rId6" Type="http://schemas.openxmlformats.org/officeDocument/2006/relationships/image" Target="../media/image4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7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scikit-learn.org/stable/modules/generated/sklearn.ensemble.AdaBoostClassifier.html" TargetMode="External"/><Relationship Id="rId4" Type="http://schemas.openxmlformats.org/officeDocument/2006/relationships/image" Target="../media/image40.png"/><Relationship Id="rId5" Type="http://schemas.openxmlformats.org/officeDocument/2006/relationships/hyperlink" Target="https://scikit-learn.org/stable/modules/generated/sklearn.ensemble.AdaBoostRegressor.html#sklearn.ensemble.AdaBoostRegressor" TargetMode="External"/><Relationship Id="rId6" Type="http://schemas.openxmlformats.org/officeDocument/2006/relationships/image" Target="../media/image4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machinelearningmastery.com/adaboost-ensemble-in-python/" TargetMode="External"/><Relationship Id="rId4" Type="http://schemas.openxmlformats.org/officeDocument/2006/relationships/image" Target="../media/image4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701310" y="419100"/>
            <a:ext cx="15824690" cy="826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244357"/>
                </a:solidFill>
                <a:latin typeface="Arial"/>
                <a:ea typeface="Arial"/>
                <a:cs typeface="Arial"/>
                <a:sym typeface="Arial"/>
              </a:rPr>
              <a:t>PÓS-GRADUAÇÃO EM CIÊNCIA DE DADOS E BIG DATA</a:t>
            </a:r>
            <a:endParaRPr/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rgbClr val="244357"/>
                </a:solidFill>
                <a:latin typeface="Arial"/>
                <a:ea typeface="Arial"/>
                <a:cs typeface="Arial"/>
                <a:sym typeface="Arial"/>
              </a:rPr>
              <a:t>IEC PUC MINAS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914400" y="6452723"/>
            <a:ext cx="99627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000" u="none" cap="none" strike="noStrike">
                <a:solidFill>
                  <a:srgbClr val="244357"/>
                </a:solidFill>
                <a:latin typeface="Arial"/>
                <a:ea typeface="Arial"/>
                <a:cs typeface="Arial"/>
                <a:sym typeface="Arial"/>
              </a:rPr>
              <a:t>Professor: </a:t>
            </a:r>
            <a:r>
              <a:rPr lang="pt-BR" sz="3000">
                <a:solidFill>
                  <a:srgbClr val="244357"/>
                </a:solidFill>
              </a:rPr>
              <a:t>Murilo Bigoto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914409" y="4610110"/>
            <a:ext cx="105156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8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5000" u="none" cap="none" strike="noStrike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Machine Learning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914400" y="4148435"/>
            <a:ext cx="99626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000" u="none" cap="none" strike="noStrike">
                <a:solidFill>
                  <a:srgbClr val="23A8C3"/>
                </a:solidFill>
                <a:latin typeface="Arial"/>
                <a:ea typeface="Arial"/>
                <a:cs typeface="Arial"/>
                <a:sym typeface="Arial"/>
              </a:rPr>
              <a:t>Disciplina: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2"/>
          <p:cNvGrpSpPr/>
          <p:nvPr/>
        </p:nvGrpSpPr>
        <p:grpSpPr>
          <a:xfrm>
            <a:off x="838200" y="2913324"/>
            <a:ext cx="13506127" cy="1964402"/>
            <a:chOff x="838200" y="2913324"/>
            <a:chExt cx="13506127" cy="1964402"/>
          </a:xfrm>
        </p:grpSpPr>
        <p:sp>
          <p:nvSpPr>
            <p:cNvPr id="98" name="Google Shape;98;p2"/>
            <p:cNvSpPr txBox="1"/>
            <p:nvPr/>
          </p:nvSpPr>
          <p:spPr>
            <a:xfrm>
              <a:off x="838200" y="2913324"/>
              <a:ext cx="12241724" cy="874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679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8800" u="none" cap="none" strike="noStrike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PARTE 1</a:t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838200" y="3954396"/>
              <a:ext cx="13506127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6000" u="none" cap="none" strike="noStrike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ENSEMBLE</a:t>
              </a:r>
              <a:endParaRPr sz="6000">
                <a:solidFill>
                  <a:srgbClr val="244357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838200" y="1866900"/>
            <a:ext cx="8115300" cy="712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ENSEMBLE</a:t>
            </a:r>
            <a:endParaRPr sz="4000">
              <a:solidFill>
                <a:srgbClr val="43C3D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6730256" y="1409068"/>
            <a:ext cx="8453400" cy="83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Definição Formal: Ensemble Learning (Aprendizado em Conjunto) é um paradigma de aprendizado de máquina no qual múltiplos modelos (frequentemente chamados de weak learners ou aprendizes fracos/base) são treinados para resolver o mesmo problema e combinados para obter um único modelo preditivo (strong learner ou aprendiz forte).</a:t>
            </a:r>
            <a:endParaRPr sz="2400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O princípio matemático subjacente aos ensembles baseia-se na sabedoria das multidões (inspirado no Teorema do Júri de Condorcet). Se tivermos um conjunto de classificadores independentes e cada um tiver uma taxa de acerto ligeiramente superior ao acaso (ex: &gt; 50% em classificação binária), a probabilidade de a decisão majoritária do conjunto estar correta aproxima-se de 100% à medida que o número de classificadores aumenta.</a:t>
            </a:r>
            <a:endParaRPr sz="2400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48595" y="8953500"/>
            <a:ext cx="839405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/>
        </p:nvSpPr>
        <p:spPr>
          <a:xfrm>
            <a:off x="838200" y="1866900"/>
            <a:ext cx="8115300" cy="712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ENSEMBLE</a:t>
            </a:r>
            <a:endParaRPr sz="4000">
              <a:solidFill>
                <a:srgbClr val="43C3D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8805944" y="1719964"/>
            <a:ext cx="8453355" cy="4928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b="1" lang="pt-BR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VANTAGENS: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Calibri"/>
              <a:buChar char="₋"/>
            </a:pPr>
            <a:r>
              <a:rPr b="0" i="0" lang="pt-BR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Melhor desempenho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Calibri"/>
              <a:buChar char="₋"/>
            </a:pPr>
            <a:r>
              <a:rPr b="0" i="0" lang="pt-BR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Redução de variância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Calibri"/>
              <a:buChar char="₋"/>
            </a:pPr>
            <a:r>
              <a:rPr b="0" i="0" lang="pt-BR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Resistência a outliers</a:t>
            </a:r>
            <a:endParaRPr/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b="1" lang="pt-BR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DESVANTAGENS: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Calibri"/>
              <a:buChar char="₋"/>
            </a:pPr>
            <a:r>
              <a:rPr b="0" i="0" lang="pt-BR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Requerem conjuntos de dados maiores para treinamento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Calibri"/>
              <a:buChar char="₋"/>
            </a:pPr>
            <a:r>
              <a:rPr b="0" i="0" lang="pt-BR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Computacionalmente mais caros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Calibri"/>
              <a:buChar char="₋"/>
            </a:pPr>
            <a:r>
              <a:rPr b="0" i="0" lang="pt-BR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Possuem maior complexidade na interpretação</a:t>
            </a:r>
            <a:endParaRPr/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48595" y="8953500"/>
            <a:ext cx="839405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/>
        </p:nvSpPr>
        <p:spPr>
          <a:xfrm>
            <a:off x="838200" y="1866900"/>
            <a:ext cx="8115300" cy="712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ENSEMBLE</a:t>
            </a:r>
            <a:endParaRPr sz="4000">
              <a:solidFill>
                <a:srgbClr val="43C3D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562100"/>
            <a:ext cx="10468830" cy="8523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48595" y="8953500"/>
            <a:ext cx="839405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c1ec7221f0c0eb4_0"/>
          <p:cNvSpPr txBox="1"/>
          <p:nvPr/>
        </p:nvSpPr>
        <p:spPr>
          <a:xfrm>
            <a:off x="838200" y="1866900"/>
            <a:ext cx="811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ENSEMBLE</a:t>
            </a:r>
            <a:endParaRPr sz="4000">
              <a:solidFill>
                <a:srgbClr val="43C3D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26" name="Google Shape;126;gc1ec7221f0c0eb4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48595" y="8953500"/>
            <a:ext cx="83940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c1ec7221f0c0eb4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1712" y="2790300"/>
            <a:ext cx="11277600" cy="634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6"/>
          <p:cNvGrpSpPr/>
          <p:nvPr/>
        </p:nvGrpSpPr>
        <p:grpSpPr>
          <a:xfrm>
            <a:off x="838200" y="1866900"/>
            <a:ext cx="8991600" cy="1250278"/>
            <a:chOff x="0" y="28575"/>
            <a:chExt cx="11988800" cy="1667037"/>
          </a:xfrm>
        </p:grpSpPr>
        <p:sp>
          <p:nvSpPr>
            <p:cNvPr id="133" name="Google Shape;133;p6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ENSEMBLE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34" name="Google Shape;134;p6"/>
            <p:cNvSpPr txBox="1"/>
            <p:nvPr/>
          </p:nvSpPr>
          <p:spPr>
            <a:xfrm>
              <a:off x="5080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PREMISSAS E ESTRATÉGIAS</a:t>
              </a:r>
              <a:endParaRPr/>
            </a:p>
          </p:txBody>
        </p:sp>
      </p:grpSp>
      <p:pic>
        <p:nvPicPr>
          <p:cNvPr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48595" y="8953500"/>
            <a:ext cx="839405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/>
          <p:nvPr/>
        </p:nvSpPr>
        <p:spPr>
          <a:xfrm>
            <a:off x="1752600" y="3829424"/>
            <a:ext cx="4191000" cy="538032"/>
          </a:xfrm>
          <a:prstGeom prst="rect">
            <a:avLst/>
          </a:prstGeom>
          <a:solidFill>
            <a:srgbClr val="23A8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DIVERSIDADE</a:t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7048500" y="3829424"/>
            <a:ext cx="4191000" cy="538032"/>
          </a:xfrm>
          <a:prstGeom prst="rect">
            <a:avLst/>
          </a:prstGeom>
          <a:solidFill>
            <a:srgbClr val="23A8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REDUÇÃO DE VARIÂNCIA</a:t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12344400" y="3829424"/>
            <a:ext cx="4191000" cy="538032"/>
          </a:xfrm>
          <a:prstGeom prst="rect">
            <a:avLst/>
          </a:prstGeom>
          <a:solidFill>
            <a:srgbClr val="23A8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COMBINAÇÃO</a:t>
            </a:r>
            <a:endParaRPr/>
          </a:p>
        </p:txBody>
      </p:sp>
      <p:sp>
        <p:nvSpPr>
          <p:cNvPr id="139" name="Google Shape;139;p6"/>
          <p:cNvSpPr txBox="1"/>
          <p:nvPr/>
        </p:nvSpPr>
        <p:spPr>
          <a:xfrm>
            <a:off x="1752601" y="4610100"/>
            <a:ext cx="4191000" cy="4527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A diversidade nos erros dos membros do conjunto é de suma importância;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Idealmente, as saídas do classificador devem ser independentes;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Usar diferentes subconjuntos dos dados de treinamento é a abordagem mais comum;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Por outro lado, também se pode usar diferentes subconjuntos de atributos, gerando modelos treinados em subespaços diferentes.</a:t>
            </a:r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7048500" y="4610100"/>
            <a:ext cx="4191000" cy="328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A variância é uma medida da incerteza no modelo. Um modelo com alta variância é mais propenso a cometer erros;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1800"/>
              <a:buFont typeface="Noto Sans Symbols"/>
              <a:buChar char="▪"/>
            </a:pPr>
            <a:r>
              <a:rPr lang="pt-BR" sz="18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Modelos individuais são propensos a cometer erros diferentes. Ao combinar suas saídas, os erros são, em média, compensados.</a:t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12344400" y="4610100"/>
            <a:ext cx="4191000" cy="4112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1800"/>
              <a:buFont typeface="Noto Sans Symbols"/>
              <a:buChar char="▪"/>
            </a:pPr>
            <a:r>
              <a:rPr b="1" lang="pt-BR" sz="18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Bagging:</a:t>
            </a:r>
            <a:r>
              <a:rPr lang="pt-BR" sz="18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 cada membro é treinado em um subconjunto aleatório dos dados de treino;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1800"/>
              <a:buFont typeface="Noto Sans Symbols"/>
              <a:buChar char="▪"/>
            </a:pPr>
            <a:r>
              <a:rPr b="1" lang="pt-BR" sz="18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Stacking:</a:t>
            </a:r>
            <a:r>
              <a:rPr lang="pt-BR" sz="18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 os membros são treinados em conjuntos de dados diferentes e, em seguida, suas saídas são combinadas usando um modelo de aprendizado de máquina final;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1800"/>
              <a:buFont typeface="Noto Sans Symbols"/>
              <a:buChar char="▪"/>
            </a:pPr>
            <a:r>
              <a:rPr b="1" lang="pt-BR" sz="18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Boosting:</a:t>
            </a:r>
            <a:r>
              <a:rPr lang="pt-BR" sz="18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 cada membro é treinado para corrigir os erros dos modelos anteriores.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/>
        </p:nvSpPr>
        <p:spPr>
          <a:xfrm>
            <a:off x="838200" y="1866900"/>
            <a:ext cx="811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Bagging</a:t>
            </a:r>
            <a:endParaRPr sz="4000">
              <a:solidFill>
                <a:srgbClr val="43C3D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47" name="Google Shape;14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500" y="3709416"/>
            <a:ext cx="8876800" cy="373380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 txBox="1"/>
          <p:nvPr/>
        </p:nvSpPr>
        <p:spPr>
          <a:xfrm>
            <a:off x="585217" y="2790300"/>
            <a:ext cx="7470600" cy="6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accent5"/>
                </a:solidFill>
              </a:rPr>
              <a:t>Bagging</a:t>
            </a:r>
            <a:r>
              <a:rPr lang="pt-BR" sz="1900"/>
              <a:t> (Bootstrap Aggregating)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/>
              <a:t>Definição: Bagging é uma técnica de ensemble paralela projetada para reduzir a variância de um modelo. Consiste em treinar múltiplos modelos base independentes da mesma classe (geralmente Árvores de Decisão profundas e não podadas) em subconjuntos aleatórios dos dados e combinar suas previsões.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accent5"/>
                </a:solidFill>
              </a:rPr>
              <a:t>Explicação Avançada</a:t>
            </a:r>
            <a:endParaRPr b="1" sz="19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/>
              <a:t>O Bagging baseia-se em amostragem por Bootstrap (amostragem aleatória com reposição). Dado um conjunto de dados D de tamanho N, geramos M novos conjuntos D_m de tamanho N. Devido à amostragem com reposição, cada conjunto D_m contém cerca de 63,2% de amostras únicas originais, enquanto o restante são duplicatas. As amostras não selecionadas (36,8%) formam o conjunto Out-Of-Bag (OOB), usado para validação interna contínua.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accent5"/>
                </a:solidFill>
              </a:rPr>
              <a:t>Para a previsão </a:t>
            </a:r>
            <a:r>
              <a:rPr b="1" lang="pt-BR" sz="1900">
                <a:solidFill>
                  <a:schemeClr val="accent5"/>
                </a:solidFill>
              </a:rPr>
              <a:t>sinal</a:t>
            </a:r>
            <a:r>
              <a:rPr b="1" lang="pt-BR" sz="1900">
                <a:solidFill>
                  <a:schemeClr val="accent5"/>
                </a:solidFill>
              </a:rPr>
              <a:t>:</a:t>
            </a:r>
            <a:endParaRPr b="1" sz="19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/>
              <a:t>• Regressão: Média simples das previsões independentes.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/>
              <a:t>• Classificação: Votação majoritária (Hard Voting) ou média das probabilidades (Soft Voting).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647fd22e58b73b9a_0"/>
          <p:cNvSpPr txBox="1"/>
          <p:nvPr/>
        </p:nvSpPr>
        <p:spPr>
          <a:xfrm>
            <a:off x="545592" y="4191075"/>
            <a:ext cx="8115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Random Forest: O Estado da Arte do Bagging</a:t>
            </a:r>
            <a:endParaRPr sz="40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4" name="Google Shape;154;g647fd22e58b73b9a_0"/>
          <p:cNvSpPr/>
          <p:nvPr/>
        </p:nvSpPr>
        <p:spPr>
          <a:xfrm>
            <a:off x="8808575" y="3648450"/>
            <a:ext cx="9021724" cy="379477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/>
        </p:nvSpPr>
        <p:spPr>
          <a:xfrm>
            <a:off x="838200" y="1866900"/>
            <a:ext cx="811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Boosting</a:t>
            </a:r>
            <a:endParaRPr sz="4000">
              <a:solidFill>
                <a:srgbClr val="43C3D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Boosting Ensemble" id="160" name="Google Shape;1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63200" y="1230559"/>
            <a:ext cx="6200775" cy="891517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0"/>
          <p:cNvSpPr txBox="1"/>
          <p:nvPr/>
        </p:nvSpPr>
        <p:spPr>
          <a:xfrm>
            <a:off x="618353" y="3383441"/>
            <a:ext cx="8115300" cy="38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/>
              <a:t>O Boosting é um framework meta-heurístico que transforma Weak Learners (modelos com performance apenas ligeiramente superior ao acaso, como árvores rasas) em um Strong Learner.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/>
              <a:t>Ao contrário do Bagging, onde os modelos são independentes e treinados em paralelo para reduzir a variância, o Boosting é sequencial. Cada modelo sucessivo é condicionado aos erros dos modelos anteriores. </a:t>
            </a:r>
            <a:endParaRPr sz="2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647fd22e58b73b9a_9"/>
          <p:cNvSpPr txBox="1"/>
          <p:nvPr/>
        </p:nvSpPr>
        <p:spPr>
          <a:xfrm>
            <a:off x="838200" y="1866900"/>
            <a:ext cx="811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Boosting</a:t>
            </a:r>
            <a:endParaRPr sz="4000">
              <a:solidFill>
                <a:srgbClr val="43C3D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67" name="Google Shape;167;g647fd22e58b73b9a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3230875"/>
            <a:ext cx="9721652" cy="365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647fd22e58b73b9a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0" y="7698797"/>
            <a:ext cx="10239375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647fd22e58b73b9a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53775" y="3380313"/>
            <a:ext cx="6456300" cy="352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/>
          <p:nvPr/>
        </p:nvSpPr>
        <p:spPr>
          <a:xfrm>
            <a:off x="838200" y="1866900"/>
            <a:ext cx="811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Stacking</a:t>
            </a:r>
            <a:endParaRPr sz="4000">
              <a:solidFill>
                <a:srgbClr val="43C3D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Stacking Ensemble" id="175" name="Google Shape;1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0123" y="2579159"/>
            <a:ext cx="7020542" cy="7566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538" y="4146513"/>
            <a:ext cx="9238633" cy="4431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12"/>
          <p:cNvGrpSpPr/>
          <p:nvPr/>
        </p:nvGrpSpPr>
        <p:grpSpPr>
          <a:xfrm>
            <a:off x="838200" y="2913324"/>
            <a:ext cx="13506127" cy="2887731"/>
            <a:chOff x="838200" y="2913324"/>
            <a:chExt cx="13506127" cy="2887731"/>
          </a:xfrm>
        </p:grpSpPr>
        <p:sp>
          <p:nvSpPr>
            <p:cNvPr id="182" name="Google Shape;182;p12"/>
            <p:cNvSpPr txBox="1"/>
            <p:nvPr/>
          </p:nvSpPr>
          <p:spPr>
            <a:xfrm>
              <a:off x="838200" y="2913324"/>
              <a:ext cx="12241724" cy="874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679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8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PARTE 2</a:t>
              </a:r>
              <a:endParaRPr/>
            </a:p>
          </p:txBody>
        </p:sp>
        <p:sp>
          <p:nvSpPr>
            <p:cNvPr id="183" name="Google Shape;183;p12"/>
            <p:cNvSpPr txBox="1"/>
            <p:nvPr/>
          </p:nvSpPr>
          <p:spPr>
            <a:xfrm>
              <a:off x="838200" y="3954396"/>
              <a:ext cx="13506127" cy="18466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60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ENSEMBLE –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60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6000">
                <a:solidFill>
                  <a:srgbClr val="244357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/>
          <p:nvPr/>
        </p:nvSpPr>
        <p:spPr>
          <a:xfrm>
            <a:off x="838200" y="1866900"/>
            <a:ext cx="10210800" cy="1481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ENSEMBLE –</a:t>
            </a:r>
            <a:endParaRPr/>
          </a:p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PRINCIPAIS ALGORITMOS</a:t>
            </a:r>
            <a:endParaRPr/>
          </a:p>
        </p:txBody>
      </p:sp>
      <p:sp>
        <p:nvSpPr>
          <p:cNvPr id="189" name="Google Shape;189;p13"/>
          <p:cNvSpPr/>
          <p:nvPr/>
        </p:nvSpPr>
        <p:spPr>
          <a:xfrm>
            <a:off x="838200" y="4305300"/>
            <a:ext cx="3124200" cy="3505200"/>
          </a:xfrm>
          <a:prstGeom prst="rect">
            <a:avLst/>
          </a:prstGeom>
          <a:solidFill>
            <a:srgbClr val="23A8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Bagging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4210050" y="4295775"/>
            <a:ext cx="3124200" cy="3505200"/>
          </a:xfrm>
          <a:prstGeom prst="rect">
            <a:avLst/>
          </a:prstGeom>
          <a:solidFill>
            <a:srgbClr val="23A8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/>
          </a:p>
        </p:txBody>
      </p:sp>
      <p:sp>
        <p:nvSpPr>
          <p:cNvPr id="191" name="Google Shape;191;p13"/>
          <p:cNvSpPr/>
          <p:nvPr/>
        </p:nvSpPr>
        <p:spPr>
          <a:xfrm>
            <a:off x="7581900" y="4305300"/>
            <a:ext cx="3124200" cy="3505200"/>
          </a:xfrm>
          <a:prstGeom prst="rect">
            <a:avLst/>
          </a:prstGeom>
          <a:solidFill>
            <a:srgbClr val="23A8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Stacking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10953750" y="4305300"/>
            <a:ext cx="3124200" cy="3505200"/>
          </a:xfrm>
          <a:prstGeom prst="rect">
            <a:avLst/>
          </a:prstGeom>
          <a:solidFill>
            <a:srgbClr val="23A8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Boosting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14325600" y="4305300"/>
            <a:ext cx="3124200" cy="3505200"/>
          </a:xfrm>
          <a:prstGeom prst="rect">
            <a:avLst/>
          </a:prstGeom>
          <a:solidFill>
            <a:srgbClr val="23A8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GBM, XGBoost, LightGBM, CatBoost e AdaBoost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14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199" name="Google Shape;199;p14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00" name="Google Shape;200;p14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BAGGING</a:t>
              </a:r>
              <a:endParaRPr/>
            </a:p>
          </p:txBody>
        </p:sp>
      </p:grpSp>
      <p:pic>
        <p:nvPicPr>
          <p:cNvPr id="201" name="Google Shape;201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4900" y="3467100"/>
            <a:ext cx="7848600" cy="635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4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4502" y="3467100"/>
            <a:ext cx="7848599" cy="6351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15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208" name="Google Shape;208;p15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09" name="Google Shape;209;p15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BAGGING</a:t>
              </a:r>
              <a:endParaRPr/>
            </a:p>
          </p:txBody>
        </p:sp>
      </p:grpSp>
      <p:pic>
        <p:nvPicPr>
          <p:cNvPr id="210" name="Google Shape;210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3495428"/>
            <a:ext cx="7727074" cy="6253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20200" y="3533528"/>
            <a:ext cx="7904382" cy="2981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20200" y="6667500"/>
            <a:ext cx="7904382" cy="2656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16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218" name="Google Shape;218;p16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19" name="Google Shape;219;p16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RANDOM FOREST</a:t>
              </a:r>
              <a:endParaRPr/>
            </a:p>
          </p:txBody>
        </p:sp>
      </p:grpSp>
      <p:pic>
        <p:nvPicPr>
          <p:cNvPr id="220" name="Google Shape;220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4899" y="3467100"/>
            <a:ext cx="7848600" cy="6351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6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4501" y="3467100"/>
            <a:ext cx="7848600" cy="6351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17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227" name="Google Shape;227;p17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28" name="Google Shape;228;p17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RANDOM FOREST</a:t>
              </a:r>
              <a:endParaRPr/>
            </a:p>
          </p:txBody>
        </p:sp>
      </p:grpSp>
      <p:pic>
        <p:nvPicPr>
          <p:cNvPr id="229" name="Google Shape;2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0" y="3117178"/>
            <a:ext cx="11430000" cy="681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7"/>
          <p:cNvSpPr txBox="1"/>
          <p:nvPr/>
        </p:nvSpPr>
        <p:spPr>
          <a:xfrm>
            <a:off x="990600" y="10010001"/>
            <a:ext cx="15240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254458"/>
                </a:solidFill>
                <a:latin typeface="Arial"/>
                <a:ea typeface="Arial"/>
                <a:cs typeface="Arial"/>
                <a:sym typeface="Arial"/>
              </a:rPr>
              <a:t>Fonte:</a:t>
            </a:r>
            <a:r>
              <a:rPr lang="pt-BR" sz="1200">
                <a:solidFill>
                  <a:srgbClr val="254458"/>
                </a:solidFill>
                <a:latin typeface="Arial"/>
                <a:ea typeface="Arial"/>
                <a:cs typeface="Arial"/>
                <a:sym typeface="Arial"/>
              </a:rPr>
              <a:t>	https://towardsmachinelearning.org/random-forest/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8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236" name="Google Shape;236;p18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7" name="Google Shape;237;p18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RANDOM FOREST</a:t>
              </a:r>
              <a:endParaRPr/>
            </a:p>
          </p:txBody>
        </p:sp>
      </p:grpSp>
      <p:sp>
        <p:nvSpPr>
          <p:cNvPr id="238" name="Google Shape;238;p18"/>
          <p:cNvSpPr txBox="1"/>
          <p:nvPr/>
        </p:nvSpPr>
        <p:spPr>
          <a:xfrm>
            <a:off x="990600" y="10010001"/>
            <a:ext cx="15240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254458"/>
                </a:solidFill>
                <a:latin typeface="Arial"/>
                <a:ea typeface="Arial"/>
                <a:cs typeface="Arial"/>
                <a:sym typeface="Arial"/>
              </a:rPr>
              <a:t>Fonte:</a:t>
            </a:r>
            <a:r>
              <a:rPr lang="pt-BR" sz="1200">
                <a:solidFill>
                  <a:srgbClr val="254458"/>
                </a:solidFill>
                <a:latin typeface="Arial"/>
                <a:ea typeface="Arial"/>
                <a:cs typeface="Arial"/>
                <a:sym typeface="Arial"/>
              </a:rPr>
              <a:t>	https://www.turing.com/kb/random-forest-algorithm</a:t>
            </a:r>
            <a:endParaRPr/>
          </a:p>
        </p:txBody>
      </p:sp>
      <p:pic>
        <p:nvPicPr>
          <p:cNvPr id="239" name="Google Shape;2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6400" y="4305300"/>
            <a:ext cx="6356206" cy="4196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923" y="4305299"/>
            <a:ext cx="5653678" cy="4196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19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246" name="Google Shape;246;p19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47" name="Google Shape;247;p19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RANDOM FOREST</a:t>
              </a:r>
              <a:endParaRPr/>
            </a:p>
          </p:txBody>
        </p:sp>
      </p:grpSp>
      <p:pic>
        <p:nvPicPr>
          <p:cNvPr id="248" name="Google Shape;248;p19" title="StatQuest: Random Forests Part 1 - Building, Using and Evaluati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8513" y="4000500"/>
            <a:ext cx="9170973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20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254" name="Google Shape;254;p20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STACKING</a:t>
              </a:r>
              <a:endParaRPr/>
            </a:p>
          </p:txBody>
        </p:sp>
      </p:grpSp>
      <p:pic>
        <p:nvPicPr>
          <p:cNvPr id="256" name="Google Shape;256;p2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4899" y="3467100"/>
            <a:ext cx="7848600" cy="635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0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4501" y="3467100"/>
            <a:ext cx="7848599" cy="6351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21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263" name="Google Shape;263;p21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64" name="Google Shape;264;p21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STACKING</a:t>
              </a:r>
              <a:endParaRPr/>
            </a:p>
          </p:txBody>
        </p:sp>
      </p:grpSp>
      <p:pic>
        <p:nvPicPr>
          <p:cNvPr id="265" name="Google Shape;26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3050" y="3133726"/>
            <a:ext cx="6705600" cy="6896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x Plot of Standalone Model Accuracies for Binary Classification" id="266" name="Google Shape;26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0" y="3133726"/>
            <a:ext cx="9195558" cy="689666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990600" y="10010001"/>
            <a:ext cx="15240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254458"/>
                </a:solidFill>
                <a:latin typeface="Arial"/>
                <a:ea typeface="Arial"/>
                <a:cs typeface="Arial"/>
                <a:sym typeface="Arial"/>
              </a:rPr>
              <a:t>Fonte:</a:t>
            </a:r>
            <a:r>
              <a:rPr lang="pt-BR" sz="1200">
                <a:solidFill>
                  <a:srgbClr val="254458"/>
                </a:solidFill>
                <a:latin typeface="Arial"/>
                <a:ea typeface="Arial"/>
                <a:cs typeface="Arial"/>
                <a:sym typeface="Arial"/>
              </a:rPr>
              <a:t>	https://machinelearningmastery.com/stacking-ensemble-machine-learning-with-python/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22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273" name="Google Shape;273;p22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74" name="Google Shape;274;p22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STACKING</a:t>
              </a:r>
              <a:endParaRPr/>
            </a:p>
          </p:txBody>
        </p:sp>
      </p:grpSp>
      <p:pic>
        <p:nvPicPr>
          <p:cNvPr id="275" name="Google Shape;2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0446" y="3133726"/>
            <a:ext cx="5010808" cy="68966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x Plot of Standalone and Stacking Model Accuracies for Binary Classification" id="276" name="Google Shape;27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0" y="3117177"/>
            <a:ext cx="9195558" cy="6896669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2"/>
          <p:cNvSpPr txBox="1"/>
          <p:nvPr/>
        </p:nvSpPr>
        <p:spPr>
          <a:xfrm>
            <a:off x="990600" y="10010001"/>
            <a:ext cx="15240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254458"/>
                </a:solidFill>
                <a:latin typeface="Arial"/>
                <a:ea typeface="Arial"/>
                <a:cs typeface="Arial"/>
                <a:sym typeface="Arial"/>
              </a:rPr>
              <a:t>Fonte:</a:t>
            </a:r>
            <a:r>
              <a:rPr lang="pt-BR" sz="1200">
                <a:solidFill>
                  <a:srgbClr val="254458"/>
                </a:solidFill>
                <a:latin typeface="Arial"/>
                <a:ea typeface="Arial"/>
                <a:cs typeface="Arial"/>
                <a:sym typeface="Arial"/>
              </a:rPr>
              <a:t>	https://machinelearningmastery.com/stacking-ensemble-machine-learning-with-python/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23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283" name="Google Shape;283;p23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84" name="Google Shape;284;p23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BOOSTING</a:t>
              </a:r>
              <a:endParaRPr/>
            </a:p>
          </p:txBody>
        </p:sp>
      </p:grpSp>
      <p:pic>
        <p:nvPicPr>
          <p:cNvPr id="285" name="Google Shape;285;p2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4900" y="3467100"/>
            <a:ext cx="7848599" cy="6351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3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4500" y="3467099"/>
            <a:ext cx="7848599" cy="6351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24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292" name="Google Shape;292;p24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93" name="Google Shape;293;p24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BOOSTING</a:t>
              </a:r>
              <a:endParaRPr/>
            </a:p>
          </p:txBody>
        </p:sp>
      </p:grpSp>
      <p:pic>
        <p:nvPicPr>
          <p:cNvPr id="294" name="Google Shape;294;p2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3495428"/>
            <a:ext cx="7727074" cy="6253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20200" y="3533528"/>
            <a:ext cx="7893656" cy="2981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20200" y="6743700"/>
            <a:ext cx="7893656" cy="2816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26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302" name="Google Shape;302;p26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03" name="Google Shape;303;p26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BOOSTING</a:t>
              </a:r>
              <a:endParaRPr/>
            </a:p>
          </p:txBody>
        </p:sp>
      </p:grpSp>
      <p:pic>
        <p:nvPicPr>
          <p:cNvPr id="304" name="Google Shape;304;p2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4900" y="3467100"/>
            <a:ext cx="7848599" cy="6351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6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4500" y="3467099"/>
            <a:ext cx="7848599" cy="6351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7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311" name="Google Shape;311;p27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12" name="Google Shape;312;p27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GRADIENT BOOST</a:t>
              </a:r>
              <a:endParaRPr/>
            </a:p>
          </p:txBody>
        </p:sp>
      </p:grpSp>
      <p:pic>
        <p:nvPicPr>
          <p:cNvPr id="313" name="Google Shape;313;p27" title="Gradient Boost Part 1 (of 4): Regression Main Ideas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8513" y="4000500"/>
            <a:ext cx="9170973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28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319" name="Google Shape;319;p28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20" name="Google Shape;320;p28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XGBOOST</a:t>
              </a:r>
              <a:endParaRPr/>
            </a:p>
          </p:txBody>
        </p:sp>
      </p:grpSp>
      <p:pic>
        <p:nvPicPr>
          <p:cNvPr id="321" name="Google Shape;321;p2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4901" y="3467099"/>
            <a:ext cx="7848599" cy="635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8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4500" y="3467099"/>
            <a:ext cx="7848600" cy="6351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29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328" name="Google Shape;328;p29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29" name="Google Shape;329;p29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XGBOOST</a:t>
              </a:r>
              <a:endParaRPr/>
            </a:p>
          </p:txBody>
        </p:sp>
      </p:grpSp>
      <p:pic>
        <p:nvPicPr>
          <p:cNvPr id="330" name="Google Shape;330;p29" title="XGBoost Part 1 (of 4): Regression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8513" y="4000500"/>
            <a:ext cx="9170973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30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336" name="Google Shape;336;p30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37" name="Google Shape;337;p30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LIGHTGBM</a:t>
              </a:r>
              <a:endParaRPr/>
            </a:p>
          </p:txBody>
        </p:sp>
      </p:grpSp>
      <p:pic>
        <p:nvPicPr>
          <p:cNvPr id="338" name="Google Shape;338;p3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4899" y="3467099"/>
            <a:ext cx="7848600" cy="635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0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4499" y="3467099"/>
            <a:ext cx="7848600" cy="6351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31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345" name="Google Shape;345;p31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46" name="Google Shape;346;p31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LIGHTGBM</a:t>
              </a:r>
              <a:endParaRPr/>
            </a:p>
          </p:txBody>
        </p:sp>
      </p:grpSp>
      <p:pic>
        <p:nvPicPr>
          <p:cNvPr id="347" name="Google Shape;347;p31" title="196 - What is Light GBM and how does it compare against XGBoost?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8513" y="4000500"/>
            <a:ext cx="9170973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32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353" name="Google Shape;353;p32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54" name="Google Shape;354;p32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ADABOOST</a:t>
              </a:r>
              <a:endParaRPr/>
            </a:p>
          </p:txBody>
        </p:sp>
      </p:grpSp>
      <p:pic>
        <p:nvPicPr>
          <p:cNvPr id="355" name="Google Shape;355;p3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4899" y="3467099"/>
            <a:ext cx="7848600" cy="635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2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4500" y="3467097"/>
            <a:ext cx="7848600" cy="6351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33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362" name="Google Shape;362;p33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63" name="Google Shape;363;p33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ADABOOST</a:t>
              </a:r>
              <a:endParaRPr/>
            </a:p>
          </p:txBody>
        </p:sp>
      </p:grpSp>
      <p:pic>
        <p:nvPicPr>
          <p:cNvPr id="364" name="Google Shape;364;p3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199" y="3467097"/>
            <a:ext cx="7848602" cy="6351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34"/>
          <p:cNvGrpSpPr/>
          <p:nvPr/>
        </p:nvGrpSpPr>
        <p:grpSpPr>
          <a:xfrm>
            <a:off x="838200" y="1866900"/>
            <a:ext cx="8953500" cy="1250278"/>
            <a:chOff x="0" y="28575"/>
            <a:chExt cx="11938000" cy="1667037"/>
          </a:xfrm>
        </p:grpSpPr>
        <p:sp>
          <p:nvSpPr>
            <p:cNvPr id="370" name="Google Shape;370;p34"/>
            <p:cNvSpPr txBox="1"/>
            <p:nvPr/>
          </p:nvSpPr>
          <p:spPr>
            <a:xfrm>
              <a:off x="0" y="28575"/>
              <a:ext cx="10820400" cy="949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PRINCIPAIS ALGORITMOS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71" name="Google Shape;371;p34"/>
            <p:cNvSpPr txBox="1"/>
            <p:nvPr/>
          </p:nvSpPr>
          <p:spPr>
            <a:xfrm>
              <a:off x="0" y="978236"/>
              <a:ext cx="11938000" cy="717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ADABOOST</a:t>
              </a:r>
              <a:endParaRPr/>
            </a:p>
          </p:txBody>
        </p:sp>
      </p:grpSp>
      <p:pic>
        <p:nvPicPr>
          <p:cNvPr id="372" name="Google Shape;372;p34" title="AdaBoost, Clearly Explaine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8513" y="4000500"/>
            <a:ext cx="9170973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Moyses Ferreira</dc:creator>
</cp:coreProperties>
</file>