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10287000" cx="18288000"/>
  <p:notesSz cx="6858000" cy="9144000"/>
  <p:embeddedFontLst>
    <p:embeddedFont>
      <p:font typeface="Arial Black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4" orient="horz"/>
        <p:guide pos="57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ArialBlack-regular.fntdata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950f4a5adb6c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2a950f4a5adb6c3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42bf89015465df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742bf89015465df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5b4c30c2713715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75b4c30c2713715f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5b4c30c2713715f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75b4c30c2713715f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42bf89015465df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742bf89015465df4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e9fb84275d2d3d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e9fb84275d2d3da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e9fb84275d2d3da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e9fb84275d2d3da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5b4c30c2713715f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75b4c30c2713715f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e9fb84275d2d3da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e9fb84275d2d3da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e9fb84275d2d3da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e9fb84275d2d3da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9fb84275d2d3da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e9fb84275d2d3da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9fb84275d2d3da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e9fb84275d2d3da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e9fb84275d2d3da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e9fb84275d2d3da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e9fb84275d2d3da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e9fb84275d2d3da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e9fb84275d2d3da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e9fb84275d2d3da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9fb84275d2d3da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e9fb84275d2d3da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e9fb84275d2d3da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e9fb84275d2d3da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e9fb84275d2d3da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e9fb84275d2d3da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e9fb84275d2d3da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e9fb84275d2d3da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e9fb84275d2d3da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e9fb84275d2d3da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e9fb84275d2d3da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e9fb84275d2d3da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e9fb84275d2d3da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e9fb84275d2d3da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9fb84275d2d3da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e9fb84275d2d3da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e9fb84275d2d3da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e9fb84275d2d3da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9fb84275d2d3da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e9fb84275d2d3da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a7fac65306015f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1a7fac65306015f8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e9fb84275d2d3da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e9fb84275d2d3da_2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0db4df4bb6029d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70db4df4bb6029d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0db4df4bb6029d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70db4df4bb6029d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0db4df4bb6029d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70db4df4bb6029d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0db4df4bb6029d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70db4df4bb6029d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61abc52e2e741a0a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61abc52e2e741a0a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a7fac65306015f8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1a7fac65306015f8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41b6695767f43ad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41b6695767f43ad5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41b6695767f43ad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41b6695767f43ad5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41b6695767f43ad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41b6695767f43ad5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41b6695767f43ad5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41b6695767f43ad5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41b6695767f43ad5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41b6695767f43ad5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371600" y="3195640"/>
            <a:ext cx="15544800" cy="2205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ctr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444626" y="6610352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 b="1" sz="71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1444626" y="4360072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8288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184404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914400" y="2302671"/>
            <a:ext cx="8080376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914400" y="3262313"/>
            <a:ext cx="8080376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9290053" y="2302671"/>
            <a:ext cx="80835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9290053" y="3262313"/>
            <a:ext cx="8083550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914403" y="409575"/>
            <a:ext cx="6016626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7150100" y="409577"/>
            <a:ext cx="10223500" cy="877967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1pPr>
            <a:lvl2pPr indent="-546100" lvl="1" marL="914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indent="-501650" lvl="2" marL="1371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914403" y="2152652"/>
            <a:ext cx="6016626" cy="703659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5749528" y="-2434826"/>
            <a:ext cx="6788945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24049434" y="3087291"/>
            <a:ext cx="1316593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7437834" y="-4989909"/>
            <a:ext cx="13165932" cy="24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 b="0" i="0" sz="7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marR="0" rtl="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461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–"/>
              <a:defRPr b="0" i="0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01650" lvl="2" marL="13716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gif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gif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Relationship Id="rId4" Type="http://schemas.openxmlformats.org/officeDocument/2006/relationships/image" Target="../media/image30.jp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gif"/><Relationship Id="rId4" Type="http://schemas.openxmlformats.org/officeDocument/2006/relationships/image" Target="../media/image33.png"/><Relationship Id="rId5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gif"/><Relationship Id="rId4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hyperlink" Target="https://hastie.su.domains/ISLP/ISLP_website.pdf" TargetMode="External"/><Relationship Id="rId5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hastie.su.domains/ISLP/ISLP_website.pdf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gif"/><Relationship Id="rId4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jpg"/><Relationship Id="rId4" Type="http://schemas.openxmlformats.org/officeDocument/2006/relationships/image" Target="../media/image3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jpg"/><Relationship Id="rId4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jpg"/><Relationship Id="rId4" Type="http://schemas.openxmlformats.org/officeDocument/2006/relationships/image" Target="../media/image4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1701310" y="419100"/>
            <a:ext cx="158247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PÓS-GRADUAÇÃO EM </a:t>
            </a:r>
            <a:r>
              <a:rPr lang="en-US" sz="3200">
                <a:solidFill>
                  <a:srgbClr val="244357"/>
                </a:solidFill>
              </a:rPr>
              <a:t>CIÊNCIA</a:t>
            </a:r>
            <a:r>
              <a:rPr lang="en-US" sz="3200">
                <a:solidFill>
                  <a:srgbClr val="244357"/>
                </a:solidFill>
              </a:rPr>
              <a:t> DE DADOS E </a:t>
            </a:r>
            <a:r>
              <a:rPr lang="en-US" sz="3200">
                <a:solidFill>
                  <a:srgbClr val="244357"/>
                </a:solidFill>
              </a:rPr>
              <a:t>ESTATÍSTICA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PUC MINAS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57486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Professor: </a:t>
            </a:r>
            <a:r>
              <a:rPr lang="en-US" sz="3000">
                <a:solidFill>
                  <a:srgbClr val="244357"/>
                </a:solidFill>
              </a:rPr>
              <a:t>Murilo A. R. Bigoto</a:t>
            </a:r>
            <a:endParaRPr b="0" i="0" sz="3000" u="none" cap="none" strike="noStrike">
              <a:solidFill>
                <a:srgbClr val="2443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4610120"/>
            <a:ext cx="105156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MACHINE LEARNING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41484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3A8C3"/>
                </a:solidFill>
                <a:latin typeface="Arial"/>
                <a:ea typeface="Arial"/>
                <a:cs typeface="Arial"/>
                <a:sym typeface="Arial"/>
              </a:rPr>
              <a:t>Disciplina: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129069" y="3180900"/>
            <a:ext cx="10845900" cy="3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 que buscamos com os modelos de ML?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Algoritmos Supervisionados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	</a:t>
            </a: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Regressão</a:t>
            </a: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e Classificação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Algoritmos Não Supervisionados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EXEMPLO PRATICO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1624" y="4681800"/>
            <a:ext cx="670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PAUTA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7147349" y="2424890"/>
            <a:ext cx="9747600" cy="5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Matemática</a:t>
            </a:r>
            <a:r>
              <a:rPr lang="en-US" sz="2600"/>
              <a:t>: Razões, diferenças e transformações logarítmicas/polinomiais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Sazonalidade</a:t>
            </a:r>
            <a:r>
              <a:rPr lang="en-US" sz="2600"/>
              <a:t>: Extração de componentes de data/hora (seno/cosseno para ciclicidade)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Agregações</a:t>
            </a:r>
            <a:r>
              <a:rPr lang="en-US" sz="2600"/>
              <a:t>: Métricas de comportamento acumulado (ex: média de gastos 30d)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Séries Temporais:</a:t>
            </a:r>
            <a:r>
              <a:rPr lang="en-US" sz="2600"/>
              <a:t> Lag, dia da semana, janelas móveis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04" name="Google Shape;104;p1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[Relembrando] Criação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Features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6748324" y="1005890"/>
            <a:ext cx="9747600" cy="82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Aja como um Especialista em Feature Engineering. Eu tenho um DataFrame e meu objetivo é construir um modelo de Machine Learning para [INSERIR OBJETIVO, EX: prever o churn de clientes].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1. Estrutura dos Dados: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O dataset possui as seguintes colunas: [LISTAR COLUNAS PRINCIPAIS OU COLAR O df.info()].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 unidade de observação (cada linha) representa: [EX: um cliente por mês].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2. Desafio: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Preciso que você sugira 10 novas features que possam aumentar o poder preditivo do modelo, divididas nas seguintes categorias: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Transformações Matemáticas: (Logs, razões, polinômios).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Agregações de Negócio: (Médias móveis, contagens, frequência).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Features de Tempo: (Sazonalidade, tempo desde o último evento).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Interações: (Combinação de duas ou mais variáveis existentes).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3. Formato de Saída: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Para cada sugestão, forneça: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Nome da Feature.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Raciocínio Lógico: Por que isso ajudaria o modelo a entender o fenômeno?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Snippet de Código: Em Python/Pandas para criar a coluna.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1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[Prompt]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Criação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Features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512076" y="46818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Ciclo de Vida de um Projeto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(CRISP-DM)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1556" y="2281238"/>
            <a:ext cx="5819700" cy="572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8921550" y="8522200"/>
            <a:ext cx="5819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Cross-Industry Standard Process for Data Mining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Objetivo dos Algoritmos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7560947" y="1943100"/>
            <a:ext cx="88518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Em Machine Learning, assumimos que existe uma função f que mapeia as variáveis de entrada (X) para a saída (y). </a:t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Como essa função é desconhecida, o algoritmo busca, dentro de um espaço de possibilidades, uma hipótese que melhor se ajuste aos dados observados.</a:t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Dizer que o modelo é uma "hipótese de ajuste" significa que estamos testando uma suposição matemática sobre como os dados se comportam. O objetivo do treinamento é encontrar os parâmetros que minimizam a distância entre a nossa hipótese e o fenômeno real.</a:t>
            </a:r>
            <a:endParaRPr sz="22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6713" y="7316736"/>
            <a:ext cx="220027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Objetivo dos Algoritmos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1062" y="3622549"/>
            <a:ext cx="196060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9736090" y="4950264"/>
            <a:ext cx="6430500" cy="27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• y: É a variável alvo (o valor real que queremos prever).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• x: É o vetor de características (features) de entrada.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• h_θ: É a nossa hipótese, uma função parametrizada por um vetor de pesos θ.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• e: Representa o erro aleatório (ruído) que não pode ser explicado pelo modelo.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Objetivo dos Algoritmos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7389140" y="2748713"/>
            <a:ext cx="8869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Para que essa hipótese seja útil, precisamos resolver um problema de otimização. O "ajuste aos dados" é a busca pelo melhor conjunto de parâmetros </a:t>
            </a:r>
            <a:r>
              <a:rPr lang="en-US" sz="2100">
                <a:solidFill>
                  <a:schemeClr val="dk1"/>
                </a:solidFill>
              </a:rPr>
              <a:t>θ</a:t>
            </a:r>
            <a:r>
              <a:rPr lang="en-US" sz="2100"/>
              <a:t>* que minimiza uma Função de Perda (J):</a:t>
            </a:r>
            <a:endParaRPr sz="2100"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0384" y="4489377"/>
            <a:ext cx="28289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3577" y="5969108"/>
            <a:ext cx="476250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Objetivo dos Algoritmos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2943338"/>
            <a:ext cx="11234868" cy="440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5244" y="3051250"/>
            <a:ext cx="11234869" cy="418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7833" y="2907413"/>
            <a:ext cx="8691676" cy="44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2943338"/>
            <a:ext cx="11234868" cy="440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668" y="2924063"/>
            <a:ext cx="11234868" cy="4438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Penalidades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3633788"/>
            <a:ext cx="946785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Penalidades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5478" y="1389886"/>
            <a:ext cx="5747876" cy="79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3228" y="3148000"/>
            <a:ext cx="4610100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</a:t>
            </a: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Classificacao</a:t>
            </a: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2334788"/>
            <a:ext cx="11234868" cy="5617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[Regressao]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5244" y="2334788"/>
            <a:ext cx="11234868" cy="5617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[Regressao]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3487" y="6167343"/>
            <a:ext cx="7217600" cy="3383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4600" y="1830036"/>
            <a:ext cx="11295366" cy="36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7281" y="8823381"/>
            <a:ext cx="3240026" cy="7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1525563"/>
            <a:ext cx="11234868" cy="5617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04750" y="7143000"/>
            <a:ext cx="6322016" cy="29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1438" y="1943092"/>
            <a:ext cx="4359875" cy="48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7887" y="1943088"/>
            <a:ext cx="4906024" cy="611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8788" y="7791436"/>
            <a:ext cx="35052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28" name="Google Shape;22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8788" y="7791436"/>
            <a:ext cx="35052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4488" y="3521214"/>
            <a:ext cx="7656451" cy="324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8800" y="2726250"/>
            <a:ext cx="10683175" cy="48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236" y="2643191"/>
            <a:ext cx="8886825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SVM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6707" y="1582810"/>
            <a:ext cx="5873450" cy="41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7124" y="6424286"/>
            <a:ext cx="6852625" cy="274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8409" y="7276950"/>
            <a:ext cx="2700525" cy="10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KNN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5353" y="2979426"/>
            <a:ext cx="7364350" cy="34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350" y="6990609"/>
            <a:ext cx="508635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/>
        </p:nvSpPr>
        <p:spPr>
          <a:xfrm>
            <a:off x="838200" y="2717292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Regressão Logística</a:t>
            </a:r>
            <a:endParaRPr sz="40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2" name="Google Shape;262;p39"/>
          <p:cNvSpPr txBox="1"/>
          <p:nvPr/>
        </p:nvSpPr>
        <p:spPr>
          <a:xfrm>
            <a:off x="8805944" y="1719964"/>
            <a:ext cx="8453400" cy="5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Busca modelar a probablidade de uma dada observação pertencer a uma determinada classe;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 Forma de regressão não linear, pois não assume que a relação entre as variáveis independentes e a variável dependente seja linear;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O objetivo da regressão logística é encontrar os parâmetros da função que melhor explicam os dados de treinamento. Tais parâmetros são encontrados usando um algoritmo de otimização;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Tem fácil interpretabilidade.</a:t>
            </a:r>
            <a:endParaRPr i="1"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9"/>
          <p:cNvPicPr preferRelativeResize="0"/>
          <p:nvPr/>
        </p:nvPicPr>
        <p:blipFill rotWithShape="1">
          <a:blip r:embed="rId3">
            <a:alphaModFix/>
          </a:blip>
          <a:srcRect b="0" l="3025" r="3034" t="5758"/>
          <a:stretch/>
        </p:blipFill>
        <p:spPr>
          <a:xfrm>
            <a:off x="838200" y="4244923"/>
            <a:ext cx="7623091" cy="4537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22048" y="8953500"/>
            <a:ext cx="865952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/>
        </p:nvSpPr>
        <p:spPr>
          <a:xfrm>
            <a:off x="914400" y="4801946"/>
            <a:ext cx="89535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NAÏVE BAYES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270" name="Google Shape;270;p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22048" y="8953500"/>
            <a:ext cx="865952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0"/>
          <p:cNvSpPr txBox="1"/>
          <p:nvPr/>
        </p:nvSpPr>
        <p:spPr>
          <a:xfrm>
            <a:off x="8833376" y="3262252"/>
            <a:ext cx="84534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Parte do pressuposto que de que as variáveis explicativas/preditoras são independentes entre si (quando avaliadas par-a-par) – ou seja, ocorrem por eventos totalmente independentes;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É probabilístico, ou seja, usa a probabilidade para fazer previsões;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Assim, o modelo calcula a classe da observação dada a combinação de valores das variáveis preditoras;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Quanto maior a correlação entre variáveis explicativas pior a performance do modelo. </a:t>
            </a:r>
            <a:endParaRPr i="1"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14688" y="1239438"/>
            <a:ext cx="7271232" cy="140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/>
        </p:nvSpPr>
        <p:spPr>
          <a:xfrm>
            <a:off x="838200" y="1866900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PRINCIPAIS ALGORITMOS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8" name="Google Shape;278;p41"/>
          <p:cNvSpPr/>
          <p:nvPr/>
        </p:nvSpPr>
        <p:spPr>
          <a:xfrm>
            <a:off x="838200" y="3162300"/>
            <a:ext cx="304800" cy="304800"/>
          </a:xfrm>
          <a:prstGeom prst="ellipse">
            <a:avLst/>
          </a:prstGeom>
          <a:solidFill>
            <a:srgbClr val="254458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1"/>
          <p:cNvSpPr/>
          <p:nvPr/>
        </p:nvSpPr>
        <p:spPr>
          <a:xfrm>
            <a:off x="838200" y="3581400"/>
            <a:ext cx="304800" cy="304800"/>
          </a:xfrm>
          <a:prstGeom prst="ellipse">
            <a:avLst/>
          </a:prstGeom>
          <a:solidFill>
            <a:srgbClr val="43C3DD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1"/>
          <p:cNvSpPr txBox="1"/>
          <p:nvPr/>
        </p:nvSpPr>
        <p:spPr>
          <a:xfrm>
            <a:off x="1143000" y="3130034"/>
            <a:ext cx="243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endParaRPr/>
          </a:p>
        </p:txBody>
      </p:sp>
      <p:sp>
        <p:nvSpPr>
          <p:cNvPr id="281" name="Google Shape;281;p41"/>
          <p:cNvSpPr txBox="1"/>
          <p:nvPr/>
        </p:nvSpPr>
        <p:spPr>
          <a:xfrm>
            <a:off x="1143000" y="3549134"/>
            <a:ext cx="243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Regressão</a:t>
            </a:r>
            <a:endParaRPr/>
          </a:p>
        </p:txBody>
      </p:sp>
      <p:grpSp>
        <p:nvGrpSpPr>
          <p:cNvPr id="282" name="Google Shape;282;p41"/>
          <p:cNvGrpSpPr/>
          <p:nvPr/>
        </p:nvGrpSpPr>
        <p:grpSpPr>
          <a:xfrm>
            <a:off x="1143000" y="4305300"/>
            <a:ext cx="2267100" cy="3505200"/>
            <a:chOff x="838200" y="4305300"/>
            <a:chExt cx="2267100" cy="3505200"/>
          </a:xfrm>
        </p:grpSpPr>
        <p:sp>
          <p:nvSpPr>
            <p:cNvPr id="283" name="Google Shape;283;p41"/>
            <p:cNvSpPr/>
            <p:nvPr/>
          </p:nvSpPr>
          <p:spPr>
            <a:xfrm>
              <a:off x="838200" y="4305300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REGRESSÁO LOGÍSTICA</a:t>
              </a:r>
              <a:endParaRPr/>
            </a:p>
          </p:txBody>
        </p:sp>
        <p:sp>
          <p:nvSpPr>
            <p:cNvPr id="284" name="Google Shape;284;p41"/>
            <p:cNvSpPr/>
            <p:nvPr/>
          </p:nvSpPr>
          <p:spPr>
            <a:xfrm>
              <a:off x="990600" y="7353300"/>
              <a:ext cx="304800" cy="304800"/>
            </a:xfrm>
            <a:prstGeom prst="ellipse">
              <a:avLst/>
            </a:prstGeom>
            <a:solidFill>
              <a:srgbClr val="2544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41"/>
          <p:cNvGrpSpPr/>
          <p:nvPr/>
        </p:nvGrpSpPr>
        <p:grpSpPr>
          <a:xfrm>
            <a:off x="6637020" y="4295775"/>
            <a:ext cx="2267100" cy="3505200"/>
            <a:chOff x="4210050" y="4295775"/>
            <a:chExt cx="2267100" cy="3505200"/>
          </a:xfrm>
        </p:grpSpPr>
        <p:sp>
          <p:nvSpPr>
            <p:cNvPr id="286" name="Google Shape;286;p41"/>
            <p:cNvSpPr/>
            <p:nvPr/>
          </p:nvSpPr>
          <p:spPr>
            <a:xfrm>
              <a:off x="4210050" y="4295775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ÁRVORES</a:t>
              </a:r>
              <a:endParaRPr/>
            </a:p>
          </p:txBody>
        </p:sp>
        <p:sp>
          <p:nvSpPr>
            <p:cNvPr id="287" name="Google Shape;287;p41"/>
            <p:cNvSpPr/>
            <p:nvPr/>
          </p:nvSpPr>
          <p:spPr>
            <a:xfrm>
              <a:off x="4362450" y="7353300"/>
              <a:ext cx="304800" cy="304800"/>
            </a:xfrm>
            <a:prstGeom prst="ellipse">
              <a:avLst/>
            </a:prstGeom>
            <a:solidFill>
              <a:srgbClr val="2544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41"/>
            <p:cNvSpPr/>
            <p:nvPr/>
          </p:nvSpPr>
          <p:spPr>
            <a:xfrm>
              <a:off x="4762500" y="7353300"/>
              <a:ext cx="304800" cy="304800"/>
            </a:xfrm>
            <a:prstGeom prst="ellipse">
              <a:avLst/>
            </a:prstGeom>
            <a:solidFill>
              <a:srgbClr val="43C3D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41"/>
          <p:cNvGrpSpPr/>
          <p:nvPr/>
        </p:nvGrpSpPr>
        <p:grpSpPr>
          <a:xfrm>
            <a:off x="12131040" y="4305300"/>
            <a:ext cx="2267100" cy="3505200"/>
            <a:chOff x="10953750" y="4305300"/>
            <a:chExt cx="2267100" cy="3505200"/>
          </a:xfrm>
        </p:grpSpPr>
        <p:sp>
          <p:nvSpPr>
            <p:cNvPr id="290" name="Google Shape;290;p41"/>
            <p:cNvSpPr/>
            <p:nvPr/>
          </p:nvSpPr>
          <p:spPr>
            <a:xfrm>
              <a:off x="10953750" y="4305300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NAIVE BAYES</a:t>
              </a:r>
              <a:endParaRPr/>
            </a:p>
          </p:txBody>
        </p:sp>
        <p:sp>
          <p:nvSpPr>
            <p:cNvPr id="291" name="Google Shape;291;p41"/>
            <p:cNvSpPr/>
            <p:nvPr/>
          </p:nvSpPr>
          <p:spPr>
            <a:xfrm>
              <a:off x="11106150" y="7353300"/>
              <a:ext cx="304800" cy="304800"/>
            </a:xfrm>
            <a:prstGeom prst="ellipse">
              <a:avLst/>
            </a:prstGeom>
            <a:solidFill>
              <a:srgbClr val="2544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41"/>
          <p:cNvGrpSpPr/>
          <p:nvPr/>
        </p:nvGrpSpPr>
        <p:grpSpPr>
          <a:xfrm>
            <a:off x="14878048" y="4305300"/>
            <a:ext cx="2267100" cy="3505200"/>
            <a:chOff x="15182848" y="4305300"/>
            <a:chExt cx="2267100" cy="3505200"/>
          </a:xfrm>
        </p:grpSpPr>
        <p:sp>
          <p:nvSpPr>
            <p:cNvPr id="293" name="Google Shape;293;p41"/>
            <p:cNvSpPr/>
            <p:nvPr/>
          </p:nvSpPr>
          <p:spPr>
            <a:xfrm>
              <a:off x="15182848" y="4305300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KNN</a:t>
              </a:r>
              <a:endParaRPr/>
            </a:p>
          </p:txBody>
        </p:sp>
        <p:sp>
          <p:nvSpPr>
            <p:cNvPr id="294" name="Google Shape;294;p41"/>
            <p:cNvSpPr/>
            <p:nvPr/>
          </p:nvSpPr>
          <p:spPr>
            <a:xfrm>
              <a:off x="15335248" y="7353300"/>
              <a:ext cx="304800" cy="304800"/>
            </a:xfrm>
            <a:prstGeom prst="ellipse">
              <a:avLst/>
            </a:prstGeom>
            <a:solidFill>
              <a:srgbClr val="2544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41"/>
            <p:cNvSpPr/>
            <p:nvPr/>
          </p:nvSpPr>
          <p:spPr>
            <a:xfrm>
              <a:off x="15735298" y="7353300"/>
              <a:ext cx="304800" cy="304800"/>
            </a:xfrm>
            <a:prstGeom prst="ellipse">
              <a:avLst/>
            </a:prstGeom>
            <a:solidFill>
              <a:srgbClr val="43C3D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41"/>
          <p:cNvGrpSpPr/>
          <p:nvPr/>
        </p:nvGrpSpPr>
        <p:grpSpPr>
          <a:xfrm>
            <a:off x="3890010" y="4305300"/>
            <a:ext cx="2267100" cy="3505200"/>
            <a:chOff x="838200" y="4305300"/>
            <a:chExt cx="2267100" cy="3505200"/>
          </a:xfrm>
        </p:grpSpPr>
        <p:sp>
          <p:nvSpPr>
            <p:cNvPr id="297" name="Google Shape;297;p41"/>
            <p:cNvSpPr/>
            <p:nvPr/>
          </p:nvSpPr>
          <p:spPr>
            <a:xfrm>
              <a:off x="838200" y="4305300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REGRESSÃO LINEAR, L1 E L2</a:t>
              </a:r>
              <a:endParaRPr/>
            </a:p>
          </p:txBody>
        </p:sp>
        <p:sp>
          <p:nvSpPr>
            <p:cNvPr id="298" name="Google Shape;298;p41"/>
            <p:cNvSpPr/>
            <p:nvPr/>
          </p:nvSpPr>
          <p:spPr>
            <a:xfrm>
              <a:off x="990600" y="7353300"/>
              <a:ext cx="304800" cy="304800"/>
            </a:xfrm>
            <a:prstGeom prst="ellipse">
              <a:avLst/>
            </a:prstGeom>
            <a:solidFill>
              <a:srgbClr val="43C3D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41"/>
          <p:cNvGrpSpPr/>
          <p:nvPr/>
        </p:nvGrpSpPr>
        <p:grpSpPr>
          <a:xfrm>
            <a:off x="9384030" y="4305300"/>
            <a:ext cx="2267100" cy="3505200"/>
            <a:chOff x="9384030" y="4305300"/>
            <a:chExt cx="2267100" cy="3505200"/>
          </a:xfrm>
        </p:grpSpPr>
        <p:grpSp>
          <p:nvGrpSpPr>
            <p:cNvPr id="300" name="Google Shape;300;p41"/>
            <p:cNvGrpSpPr/>
            <p:nvPr/>
          </p:nvGrpSpPr>
          <p:grpSpPr>
            <a:xfrm>
              <a:off x="9384030" y="4305300"/>
              <a:ext cx="2267100" cy="3505200"/>
              <a:chOff x="7581900" y="4305300"/>
              <a:chExt cx="2267100" cy="3505200"/>
            </a:xfrm>
          </p:grpSpPr>
          <p:sp>
            <p:nvSpPr>
              <p:cNvPr id="301" name="Google Shape;301;p41"/>
              <p:cNvSpPr/>
              <p:nvPr/>
            </p:nvSpPr>
            <p:spPr>
              <a:xfrm>
                <a:off x="7581900" y="4305300"/>
                <a:ext cx="2267100" cy="3505200"/>
              </a:xfrm>
              <a:prstGeom prst="rect">
                <a:avLst/>
              </a:prstGeom>
              <a:solidFill>
                <a:srgbClr val="23A8C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SVM</a:t>
                </a:r>
                <a:endParaRPr/>
              </a:p>
            </p:txBody>
          </p:sp>
          <p:sp>
            <p:nvSpPr>
              <p:cNvPr id="302" name="Google Shape;302;p41"/>
              <p:cNvSpPr/>
              <p:nvPr/>
            </p:nvSpPr>
            <p:spPr>
              <a:xfrm>
                <a:off x="7734300" y="7353300"/>
                <a:ext cx="304800" cy="304800"/>
              </a:xfrm>
              <a:prstGeom prst="ellipse">
                <a:avLst/>
              </a:prstGeom>
              <a:solidFill>
                <a:srgbClr val="254458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3" name="Google Shape;303;p41"/>
            <p:cNvSpPr/>
            <p:nvPr/>
          </p:nvSpPr>
          <p:spPr>
            <a:xfrm>
              <a:off x="9936480" y="7353300"/>
              <a:ext cx="304800" cy="304800"/>
            </a:xfrm>
            <a:prstGeom prst="ellipse">
              <a:avLst/>
            </a:prstGeom>
            <a:solidFill>
              <a:srgbClr val="43C3D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/>
        </p:nvSpPr>
        <p:spPr>
          <a:xfrm>
            <a:off x="801624" y="4219950"/>
            <a:ext cx="811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APRENDIZADO NÃO-SUPERVISIONADO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9" name="Google Shape;309;p42"/>
          <p:cNvSpPr txBox="1"/>
          <p:nvPr/>
        </p:nvSpPr>
        <p:spPr>
          <a:xfrm>
            <a:off x="8805944" y="1719964"/>
            <a:ext cx="8453400" cy="7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É um tipo de aprendizado de máquina em que o algoritmo não é fornecido com dados rotulados.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Podemos citar 3 tipos principais de aprendizado não-supervisionado: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Agrupamento (</a:t>
            </a:r>
            <a:r>
              <a:rPr b="0" i="1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Redução de Dimensionalidade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Aprendizado de Representações (autoencoders, GANs, etc.)</a:t>
            </a:r>
            <a:endParaRPr b="0" i="0" sz="2400" u="none" cap="none" strike="noStrike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As principais aplicações são: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Identificação de grupos/agrupamentos naturais dos dados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Detecção de anomalias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Visualização de dados</a:t>
            </a:r>
            <a:endParaRPr b="0" i="0" sz="2400" u="none" cap="none" strike="noStrike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3"/>
          <p:cNvSpPr txBox="1"/>
          <p:nvPr/>
        </p:nvSpPr>
        <p:spPr>
          <a:xfrm>
            <a:off x="690650" y="4149075"/>
            <a:ext cx="811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APRENDIZADO NÃO-SUPERVISIONADO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5" name="Google Shape;315;p43"/>
          <p:cNvSpPr txBox="1"/>
          <p:nvPr/>
        </p:nvSpPr>
        <p:spPr>
          <a:xfrm>
            <a:off x="8805944" y="1719964"/>
            <a:ext cx="8453400" cy="6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Avaliar a saída do algoritmo é difícil: nem sempre o resultado condiz com a expectativa.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Algoritmos não supervisionados são frequentemente usados em um ambiente exploratório, pois precisamos inspecionar manualmente os resultados para avaliar o desempenho do algoritmo.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Pode ser aplicado como etapa de pré-processamento para algoritmos supervisionados. Isso pode melhorar a precisão dos algoritmos supervisionados ou reduzir o consumo de memória e tempo.</a:t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roduction to Machine Learning with Python" id="316" name="Google Shape;31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67" y="8953500"/>
            <a:ext cx="1058333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K-Means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22" name="Google Shape;32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6420" y="1597152"/>
            <a:ext cx="6096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5206" y="7190248"/>
            <a:ext cx="34861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4"/>
          <p:cNvSpPr txBox="1"/>
          <p:nvPr/>
        </p:nvSpPr>
        <p:spPr>
          <a:xfrm>
            <a:off x="7644000" y="7196325"/>
            <a:ext cx="34860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Função Objetivo: O algoritmo resolve um problema de otimização para encontrar os centroides \mu que minimizam a soma dos quadrados dentro do cluster (WCSS)</a:t>
            </a:r>
            <a:endParaRPr sz="1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Como encontrar K?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Cotovelo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30" name="Google Shape;33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0" y="1635263"/>
            <a:ext cx="9104725" cy="63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5"/>
          <p:cNvSpPr txBox="1"/>
          <p:nvPr/>
        </p:nvSpPr>
        <p:spPr>
          <a:xfrm>
            <a:off x="6321738" y="8540496"/>
            <a:ext cx="99579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Procuramos o ponto de inflexão (o "cotovelo"). Antes desse ponto, adicionar clusters traz um ganho enorme de coesão; após esse ponto, o ganho de informação é marginal e você começa a sofrer com overfitting do agrupamento.</a:t>
            </a:r>
            <a:endParaRPr sz="1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Como encontrar K?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Silhueta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37" name="Google Shape;3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2409888"/>
            <a:ext cx="11234867" cy="5467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Como encontrar K?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Silhueta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43" name="Google Shape;34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308" y="2960725"/>
            <a:ext cx="11234867" cy="436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DBSCAN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9" name="Google Shape;349;p48"/>
          <p:cNvSpPr txBox="1"/>
          <p:nvPr/>
        </p:nvSpPr>
        <p:spPr>
          <a:xfrm>
            <a:off x="6583678" y="2737500"/>
            <a:ext cx="110733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O DBSCAN (Density-Based Spatial Clustering of Applications with Noise) é excelente para encontrar formas arbitrárias e identificar outliers.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Parâmetros Fundamentais: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	 Eps: O raio da vizinhança.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	 MinPts: O número mínimo de pontos para formar uma "região densa".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Lógica de Classificação: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	Core Points: Têm MinPts dentro de Eps.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	Border Points: Estão no raio de um Core Point, mas têm poucos vizinhos.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	Noise (Ruído): Não são nem core nem border.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Vantagem: Não precisa definir o número de clusters a priori e lida bem com ruído.</a:t>
            </a:r>
            <a:endParaRPr sz="2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DBSCAN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55" name="Google Shape;35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3407" y="1946153"/>
            <a:ext cx="8526275" cy="63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50"/>
          <p:cNvGrpSpPr/>
          <p:nvPr/>
        </p:nvGrpSpPr>
        <p:grpSpPr>
          <a:xfrm>
            <a:off x="838200" y="1866900"/>
            <a:ext cx="8953425" cy="1395346"/>
            <a:chOff x="0" y="28575"/>
            <a:chExt cx="11937900" cy="1860461"/>
          </a:xfrm>
        </p:grpSpPr>
        <p:sp>
          <p:nvSpPr>
            <p:cNvPr id="361" name="Google Shape;361;p50"/>
            <p:cNvSpPr txBox="1"/>
            <p:nvPr/>
          </p:nvSpPr>
          <p:spPr>
            <a:xfrm>
              <a:off x="0" y="28575"/>
              <a:ext cx="108204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CLUSTERIZAÇÃO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2" name="Google Shape;362;p50"/>
            <p:cNvSpPr txBox="1"/>
            <p:nvPr/>
          </p:nvSpPr>
          <p:spPr>
            <a:xfrm>
              <a:off x="0" y="978236"/>
              <a:ext cx="11937900" cy="9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AGGLOMERATIVE</a:t>
              </a:r>
              <a:endParaRPr/>
            </a:p>
          </p:txBody>
        </p:sp>
      </p:grpSp>
      <p:pic>
        <p:nvPicPr>
          <p:cNvPr descr="Introduction to Machine Learning with Python" id="363" name="Google Shape;36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67" y="8953500"/>
            <a:ext cx="1058333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lp 0333" id="364" name="Google Shape;36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5204" y="3543300"/>
            <a:ext cx="14237591" cy="601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51"/>
          <p:cNvGrpSpPr/>
          <p:nvPr/>
        </p:nvGrpSpPr>
        <p:grpSpPr>
          <a:xfrm>
            <a:off x="838200" y="1866900"/>
            <a:ext cx="8953425" cy="1395346"/>
            <a:chOff x="0" y="28575"/>
            <a:chExt cx="11937900" cy="1860461"/>
          </a:xfrm>
        </p:grpSpPr>
        <p:sp>
          <p:nvSpPr>
            <p:cNvPr id="370" name="Google Shape;370;p51"/>
            <p:cNvSpPr txBox="1"/>
            <p:nvPr/>
          </p:nvSpPr>
          <p:spPr>
            <a:xfrm>
              <a:off x="0" y="28575"/>
              <a:ext cx="108204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CLUSTERIZAÇÃO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71" name="Google Shape;371;p51"/>
            <p:cNvSpPr txBox="1"/>
            <p:nvPr/>
          </p:nvSpPr>
          <p:spPr>
            <a:xfrm>
              <a:off x="0" y="978236"/>
              <a:ext cx="11937900" cy="9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HIERÁRQUICO</a:t>
              </a:r>
              <a:endParaRPr/>
            </a:p>
          </p:txBody>
        </p:sp>
      </p:grpSp>
      <p:pic>
        <p:nvPicPr>
          <p:cNvPr descr="Introduction to Machine Learning with Python" id="372" name="Google Shape;37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67" y="8953500"/>
            <a:ext cx="1058333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lp 0336" id="373" name="Google Shape;37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3382433"/>
            <a:ext cx="10667999" cy="623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52"/>
          <p:cNvGrpSpPr/>
          <p:nvPr/>
        </p:nvGrpSpPr>
        <p:grpSpPr>
          <a:xfrm>
            <a:off x="838200" y="1866900"/>
            <a:ext cx="8953425" cy="1395346"/>
            <a:chOff x="0" y="28575"/>
            <a:chExt cx="11937900" cy="1860461"/>
          </a:xfrm>
        </p:grpSpPr>
        <p:sp>
          <p:nvSpPr>
            <p:cNvPr id="379" name="Google Shape;379;p52"/>
            <p:cNvSpPr txBox="1"/>
            <p:nvPr/>
          </p:nvSpPr>
          <p:spPr>
            <a:xfrm>
              <a:off x="0" y="28575"/>
              <a:ext cx="108204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CLUSTERIZAÇÃO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80" name="Google Shape;380;p52"/>
            <p:cNvSpPr txBox="1"/>
            <p:nvPr/>
          </p:nvSpPr>
          <p:spPr>
            <a:xfrm>
              <a:off x="0" y="978236"/>
              <a:ext cx="11937900" cy="9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HIERÁRQUICO</a:t>
              </a:r>
              <a:endParaRPr/>
            </a:p>
          </p:txBody>
        </p:sp>
      </p:grpSp>
      <p:pic>
        <p:nvPicPr>
          <p:cNvPr descr="Introduction to Machine Learning with Python" id="381" name="Google Shape;38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67" y="8953500"/>
            <a:ext cx="1058333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4388" y="3410725"/>
            <a:ext cx="11379226" cy="51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