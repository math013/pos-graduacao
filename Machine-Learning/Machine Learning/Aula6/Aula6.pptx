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5b4c30c2713715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75b4c30c271371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950f4a5adb6c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2a950f4a5adb6c3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b89740e4f787c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3b89740e4f787c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b89740e4f787c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3b89740e4f787c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89740e4f787c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b89740e4f787c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b89740e4f787c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3b89740e4f787c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b89740e4f787c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3b89740e4f787c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b89740e4f787c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3b89740e4f787c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b89740e4f787c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3b89740e4f787c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b89740e4f787c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3b89740e4f787c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b89740e4f787c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3b89740e4f787c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1d6931598110f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d1d6931598110f5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1d6931598110f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d1d6931598110f5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1d6931598110f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d1d6931598110f5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b89740e4f787c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3b89740e4f787c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b89740e4f787c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3b89740e4f787c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b89740e4f787c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3b89740e4f787c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b89740e4f787c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3b89740e4f787c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701310" y="419100"/>
            <a:ext cx="15824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</a:t>
            </a:r>
            <a:r>
              <a:rPr lang="en-US" sz="3200">
                <a:solidFill>
                  <a:srgbClr val="244357"/>
                </a:solidFill>
              </a:rPr>
              <a:t>CIÊNCIA</a:t>
            </a:r>
            <a:r>
              <a:rPr lang="en-US" sz="3200">
                <a:solidFill>
                  <a:srgbClr val="244357"/>
                </a:solidFill>
              </a:rPr>
              <a:t> DE DADOS E </a:t>
            </a:r>
            <a:r>
              <a:rPr lang="en-US" sz="3200">
                <a:solidFill>
                  <a:srgbClr val="244357"/>
                </a:solidFill>
              </a:rPr>
              <a:t>ESTATÍSTICA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3000">
                <a:solidFill>
                  <a:srgbClr val="244357"/>
                </a:solidFill>
              </a:rPr>
              <a:t>Murilo A. R. Bigoto</a:t>
            </a:r>
            <a:endParaRPr b="0" i="0" sz="3000" u="none" cap="none" strike="noStrike">
              <a:solidFill>
                <a:srgbClr val="2443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61012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138213" y="2935650"/>
            <a:ext cx="10845900" cy="4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Prompt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Suplementação 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Trabalho Final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EXEMPLO PRATICO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1624" y="4681800"/>
            <a:ext cx="670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PAUTA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12076" y="46818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Ciclo de Vida de um Projeto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(CRISP-DM)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556" y="2281238"/>
            <a:ext cx="5819700" cy="572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921550" y="8522200"/>
            <a:ext cx="5819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Cross-Industry Standard Process for Data Mining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971391" y="2189100"/>
            <a:ext cx="8919000" cy="5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1. O que é Interpretabilidade?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Interpretabilidade é a capacidade de entender e explicar como um modelo de ML toma decisões — traduzindo a lógica interna do modelo para linguagem humana.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Existem três dimensões principais: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Transparência</a:t>
            </a:r>
            <a:r>
              <a:rPr lang="en-US" sz="2200"/>
              <a:t> — entender a estrutura e os parâmetros do modelo em si. Você consegue olhar para o modelo e compreender o que ele aprendeu?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Explicabilidade</a:t>
            </a:r>
            <a:r>
              <a:rPr lang="en-US" sz="2200"/>
              <a:t> — justificar previsões específicas para usuários finais. "Por que o modelo negou esse crédito?"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Confiabilidade</a:t>
            </a:r>
            <a:r>
              <a:rPr lang="en-US" sz="2200"/>
              <a:t> — garantir que o modelo age de forma justa, consistente e esperada, sem vieses ocultos.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947713" y="3367662"/>
            <a:ext cx="88596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Por que isso importa?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Regulações exigem (LGPD, GDPR, AI Act)</a:t>
            </a:r>
            <a:r>
              <a:rPr lang="en-US" sz="2200"/>
              <a:t>: o titular dos dados tem direito a saber a lógica de decisões automatizadas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6"/>
                </a:solidFill>
              </a:rPr>
              <a:t>Em saúde, crédito e justiça, uma previsão errada tem custo humano real</a:t>
            </a:r>
            <a:endParaRPr sz="2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Debugging</a:t>
            </a:r>
            <a:r>
              <a:rPr lang="en-US" sz="2200"/>
              <a:t>: modelos que você entende são modelos que você consegue melhorar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126" y="4390035"/>
            <a:ext cx="9037276" cy="38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7815125" y="2476800"/>
            <a:ext cx="76302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2. Modelos de Pesos — Regressão Linear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regressão linear é o modelo mais interpretável que existe. Sua equação é: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7815125" y="1943100"/>
            <a:ext cx="83241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3. Modelos de Pesos — Regressão Logística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Para classificação binária, usamos a função logística. A equação modela a log-odds da classe positiva:</a:t>
            </a:r>
            <a:endParaRPr sz="22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125" y="4120900"/>
            <a:ext cx="8324026" cy="467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488896" y="1523129"/>
            <a:ext cx="8992500" cy="7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4. </a:t>
            </a:r>
            <a:r>
              <a:rPr b="1" lang="en-US" sz="2200">
                <a:solidFill>
                  <a:schemeClr val="accent5"/>
                </a:solidFill>
              </a:rPr>
              <a:t> Feature Importance — Conceito e Tipos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Feature Importance quantifica o quanto cada variável contribui para as previsões do modelo. Existem quatro famílias principais: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Impurity-based (Gini / Entropia)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Padrão em Random Forests e Decision Trees. Mede quantas vezes cada feature foi usada como critério de divisão e quanto ela reduziu a impureza total.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Permutation Importance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Embaralha uma feature de cada vez e mede a queda de performance. É model-agnostic — funciona com qualquer modelo — e tende a ser mais confiável.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Coeficientes Padronizados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Válido exclusivamente em modelos lineares. Requer normalização prévia das features para que os coeficientes sejam comparáveis.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Gain / Split Count (Gradient Boosting)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Em modelos como XGBoost e LightGBM, o "gain" médio por split ou o número de splits onde a feature foi usada serve como proxy de importância.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358" y="2367961"/>
            <a:ext cx="9814499" cy="55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093376" y="1515750"/>
            <a:ext cx="9976200" cy="7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Feature Importance — Como é Calculada (Permutation)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 método de Permutation Importance. Funciona assim: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Passo 1:</a:t>
            </a:r>
            <a:r>
              <a:rPr lang="en-US" sz="2200"/>
              <a:t> treine o modelo normalmente e registre a métrica base no conjunto de validação.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Acurácia base = 0,92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Passo 2</a:t>
            </a:r>
            <a:r>
              <a:rPr lang="en-US" sz="2200"/>
              <a:t>: escolha uma feature xᵢ e embaralhe aleatoriamente seus valores — isso quebra qualquer relação entre ela e o alvo, mas mantém tudo o mais intacto.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Passo 3</a:t>
            </a:r>
            <a:r>
              <a:rPr lang="en-US" sz="2200"/>
              <a:t>: calcule a métrica novamente com a feature embaralhada.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Acurácia com "renda" embaralhada = 0,78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Passo 4</a:t>
            </a:r>
            <a:r>
              <a:rPr lang="en-US" sz="2200"/>
              <a:t>: a importância da feature é a queda de performance.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Importância("renda") = 0,92 − 0,78 = 0,14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Passo 5</a:t>
            </a:r>
            <a:r>
              <a:rPr lang="en-US" sz="2200"/>
              <a:t>: repita para todas as features e ordene pela queda. As features com maior queda são as mais importantes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7561526" y="1810500"/>
            <a:ext cx="7718100" cy="4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5. </a:t>
            </a:r>
            <a:r>
              <a:rPr b="1" lang="en-US" sz="2200">
                <a:solidFill>
                  <a:schemeClr val="accent5"/>
                </a:solidFill>
              </a:rPr>
              <a:t>Shapley Values — A Teoria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Shapley Values têm origem na teoria dos jogos cooperativos (Lloyd Shapley, 1953, Prêmio Nobel de Economia 2012). A ideia é: imagine que as features são jogadores cooperando para gerar uma previsão. Como distribuir o crédito de forma justa?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fórmula calcula a contribuição marginal média de cada feature em todas as coalições possíveis: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 = conjunto de todas as features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 = subconjunto sem a feature i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v(S ∪ {i}) − f(S) = ganho marginal de adicionar xᵢ à coalizão S</a:t>
            </a:r>
            <a:endParaRPr sz="2200"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772" y="7416249"/>
            <a:ext cx="8982447" cy="23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Interpretabilidade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236" y="1090613"/>
            <a:ext cx="8010525" cy="81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TabPFN — Tópico Suplementar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142805" y="3367650"/>
            <a:ext cx="97833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TabPFN (Tabular Prior-data Fitted Network)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é um transformer pré-treinado que realiza </a:t>
            </a:r>
            <a:r>
              <a:rPr lang="en-US" sz="2200"/>
              <a:t>predição </a:t>
            </a:r>
            <a:r>
              <a:rPr lang="en-US" sz="2200"/>
              <a:t>aproximada em dados tabulares — sem nenhum treinamento adicional no seu dataset.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Desenvolvido por Hollmann et al. (2022, NeurIPS), o modelo foi treinado em milhões de datasets sintéticos gerados a partir de priors bayesianos.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 resultado é um modelo que aprendeu a aprender: dado um conjunto de treino como contexto, ele faz previsões diretamente pelo mecanismo de atenção — isso é in-context learning aplicado a dados tabulares.</a:t>
            </a:r>
            <a:endParaRPr sz="2200"/>
          </a:p>
        </p:txBody>
      </p:sp>
      <p:sp>
        <p:nvSpPr>
          <p:cNvPr id="169" name="Google Shape;169;p25"/>
          <p:cNvSpPr txBox="1"/>
          <p:nvPr/>
        </p:nvSpPr>
        <p:spPr>
          <a:xfrm>
            <a:off x="1709969" y="6080760"/>
            <a:ext cx="3831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https://github.com/PriorLabs/TabPFN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6021307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Prompt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6021298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Trabalho Final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2029950" y="6108192"/>
            <a:ext cx="1422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Descrição: </a:t>
            </a:r>
            <a:r>
              <a:rPr lang="en-US"/>
              <a:t>https://docs.google.com/document/d/1OhkUqvRDqKQGXTfOFv9cmesw0Bttd9i9/edit?usp=share_link&amp;ouid=115909031340902956380&amp;rtpof=true&amp;sd=true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2029950" y="6990592"/>
            <a:ext cx="1422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Entrega: </a:t>
            </a:r>
            <a:r>
              <a:rPr lang="en-US"/>
              <a:t>https://docs.google.com/forms/d/e/1FAIpQLSfbzbLNHTjvO4sJ9EZsAjkFlueOL-LW8O1uvTuK16X12HP5SQ/viewform?usp=share_link&amp;ouid=115909031340902956380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1781851" y="2189100"/>
            <a:ext cx="14724300" cy="5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Fontes Gerais de Datasets (Clássicas)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Kaggle — kaggle.com/datasets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 maior repositório de datasets do mundo para ML. Tem competições com dados reais, notebooks públicos de referência e integração direta com Python. Ideal para todos os níveis.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UCI Machine Learning Repository — archive.ics.uci.edu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 repositório histórico do campo. Datasets clássicos (Iris, Adult Income, Wine, Heart Disease) com documentação detalhada de variáveis. Excelente para exercícios didáticos.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OpenML — openml.org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Plataforma científica com mais de 20.000 datasets catalogados, integração nativa com scikit-learn via openml.datasets.get_dataset() e rastreamento de experimentos.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Hugging Face Datasets — huggingface.co/datasets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Crescendo além de NLP: tem datasets tabulares, de visão e multimodais. Acesso via biblioteca datasets do Python com uma linha de código.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/>
        </p:nvSpPr>
        <p:spPr>
          <a:xfrm>
            <a:off x="1458450" y="1347300"/>
            <a:ext cx="15371100" cy="7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Fontes Governamentais e Institucionais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Portal Brasileiro de Dados Abertos — dados.gov.br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Dados oficiais do governo federal: saúde, educação, segurança pública, economia. Ótimo para contextualizar problemas brasileiros reais (ENEM, SUS, Bolsa Família, etc.).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IBGE — ibge.gov.br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Censo demográfico, PNAD, pesquisas de renda e emprego. Dados socioeconômicos com rigor metodológico e ampla cobertura histórica.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ANS (Agência Nacional de Saúde Suplementar) — ans.gov.br/perfil-do-setor/dados-e-indicadores-do-setor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Dados sobre planos de saúde, operadoras, beneficiários e procedimentos. Excelente para modelos de risco em saúde.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Banco Central do Brasil — dadosabertos.bcb.gov.br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Séries temporais de câmbio, inflação, crédito e juros. Muito útil para modelos financeiros e de previsão de séries.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World Bank Open Data — data.worldbank.org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Indicadores de desenvolvimento mundial por país e ano. Ótimo para análises comparativas internacionais.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Our World in Data — ourworldindata.org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Dados globais sobre saúde, educação, energia, clima e desigualdade, já limpos e bem documentados. Excelente para visualização e storytelling.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2515350" y="3030900"/>
            <a:ext cx="13257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Dados Financeiros e de Mercado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Yahoo Finance via yfinance — pip install yfinance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Preços históricos de ações, índices, ETFs e câmbio. Perfeito para séries temporais e modelos preditivos de mercado.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Alpha Vantage — alphavantage.co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API gratuita com dados de ações, forex e criptomoedas em tempo quase real. Requer cadastro para chave de API.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Quandl / Nasdaq Data Link — data.nasdaq.com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Dados financeiros, macroeconômicos e alternativos. Parte é gratuita, parte requer assinatura.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3360900" y="3030900"/>
            <a:ext cx="115662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Dados de Saúde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DATASUS — datasus.saude.gov.br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Sistema de informações de saúde do governo brasileiro: internações (SIH), mortalidade (SIM), nascimentos (SINASC), vacinação. Rico para modelos epidemiológicos.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PhysioNet — physionet.org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Datasets clínicos de alta qualidade: ECG, registros de UTI (MIMIC-III/IV), sinais fisiológicos. Requer cadastro e aceite de termos de uso — uso acadêmico.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Global Health Observatory (OMS) — who.int/data/gho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Indicadores de saúde pública mundial organizados por país, faixa etária e condição.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/>
        </p:nvSpPr>
        <p:spPr>
          <a:xfrm>
            <a:off x="3162754" y="3030900"/>
            <a:ext cx="119625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Plataformas com Desafios e Contexto Real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DrivenData — drivendata.org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Competições de ML com impacto social: saúde pública, educação, meio ambiente. Dados reais com problema bem definido — ótimo para projetos de conclusão.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Zindi — zindi.africa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Competições focadas em problemas africanos e do Sul Global. Dados únicos e contextos pouco explorados na literatura.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Grand Challenge — grand-challenge.org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Desafios de ML em imagens médicas e dados clínicos. Para quem quer ir além do tabular.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