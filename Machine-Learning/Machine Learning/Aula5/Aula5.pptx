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10287000" cx="18288000"/>
  <p:notesSz cx="6858000" cy="9144000"/>
  <p:embeddedFontLst>
    <p:embeddedFont>
      <p:font typeface="Arial Black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4" orient="horz"/>
        <p:guide pos="57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ArialBlack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75b4c30c2713715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75b4c30c2713715f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950f4a5adb6c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2a950f4a5adb6c3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1d6931598110f5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d1d6931598110f5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1d6931598110f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d1d6931598110f5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1d6931598110f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d1d6931598110f5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1d6931598110f5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d1d6931598110f5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1d6931598110f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d1d6931598110f5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d6931598110f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d1d6931598110f5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1d6931598110f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d1d6931598110f5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1d6931598110f5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d1d6931598110f5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d1d6931598110f5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d1d6931598110f5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d1d6931598110f5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d1d6931598110f5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d1d6931598110f5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d1d6931598110f5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1d6931598110f5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d1d6931598110f5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5f67579c32c1d9e7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5f67579c32c1d9e7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5f67579c32c1d9e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5f67579c32c1d9e7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6fe81485cd19c5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6fe81485cd19c55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6fe81485cd19c5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6fe81485cd19c55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6fe81485cd19c5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6fe81485cd19c55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4c85b4725a9c96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74c85b4725a9c96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74c85b4725a9c96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74c85b4725a9c96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74c85b4725a9c96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74c85b4725a9c961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74c85b4725a9c96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74c85b4725a9c961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4c85b4725a9c96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74c85b4725a9c961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74c85b4725a9c96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74c85b4725a9c961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74c85b4725a9c96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74c85b4725a9c961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74c85b4725a9c96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74c85b4725a9c961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74c85b4725a9c96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74c85b4725a9c961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74c85b4725a9c96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74c85b4725a9c961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371600" y="3195640"/>
            <a:ext cx="15544800" cy="2205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ctr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1444626" y="6610352"/>
            <a:ext cx="15544800" cy="204311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  <a:defRPr b="1" sz="71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1444626" y="4360072"/>
            <a:ext cx="155448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8288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18440400" y="3600450"/>
            <a:ext cx="16306800" cy="10184607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461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indent="-501650" lvl="1" marL="914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–"/>
              <a:defRPr sz="43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914400" y="2302671"/>
            <a:ext cx="8080376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914400" y="3262313"/>
            <a:ext cx="8080376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9290053" y="2302671"/>
            <a:ext cx="8083550" cy="959643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b="1" sz="43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3pPr>
            <a:lvl4pPr indent="-22860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4pPr>
            <a:lvl5pPr indent="-22860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5pPr>
            <a:lvl6pPr indent="-22860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6pPr>
            <a:lvl7pPr indent="-22860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7pPr>
            <a:lvl8pPr indent="-22860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8pPr>
            <a:lvl9pPr indent="-22860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9290053" y="3262313"/>
            <a:ext cx="8083550" cy="5926932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914403" y="409575"/>
            <a:ext cx="6016626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7150100" y="409577"/>
            <a:ext cx="10223500" cy="877967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Char char="•"/>
              <a:defRPr sz="5700"/>
            </a:lvl1pPr>
            <a:lvl2pPr indent="-546100" lvl="1" marL="914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indent="-501650" lvl="2" marL="1371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914403" y="2152652"/>
            <a:ext cx="6016626" cy="703659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3584576" y="7200900"/>
            <a:ext cx="10972800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81625" lIns="163275" spcFirstLastPara="1" rIns="163275" wrap="square" tIns="816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584576" y="919163"/>
            <a:ext cx="109728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584576" y="8051007"/>
            <a:ext cx="10972800" cy="1207293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5749528" y="-2434826"/>
            <a:ext cx="6788945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24049434" y="3087291"/>
            <a:ext cx="1316593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7437834" y="-4989909"/>
            <a:ext cx="13165932" cy="24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Calibri"/>
              <a:buNone/>
              <a:defRPr b="0" i="0" sz="7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14400" y="2400302"/>
            <a:ext cx="16459200" cy="6788945"/>
          </a:xfrm>
          <a:prstGeom prst="rect">
            <a:avLst/>
          </a:prstGeom>
          <a:noFill/>
          <a:ln>
            <a:noFill/>
          </a:ln>
        </p:spPr>
        <p:txBody>
          <a:bodyPr anchorCtr="0" anchor="t" bIns="81625" lIns="163275" spcFirstLastPara="1" rIns="163275" wrap="square" tIns="81625">
            <a:normAutofit/>
          </a:bodyPr>
          <a:lstStyle>
            <a:lvl1pPr indent="-590550" lvl="0" marL="457200" marR="0" rtl="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461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–"/>
              <a:defRPr b="0" i="0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01650" lvl="2" marL="13716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914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6248400" y="9534527"/>
            <a:ext cx="5791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3106400" y="9534527"/>
            <a:ext cx="4267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81625" lIns="163275" spcFirstLastPara="1" rIns="163275" wrap="square" tIns="816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1701310" y="419100"/>
            <a:ext cx="158247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PÓS-GRADUAÇÃO EM </a:t>
            </a:r>
            <a:r>
              <a:rPr lang="en-US" sz="3200">
                <a:solidFill>
                  <a:srgbClr val="244357"/>
                </a:solidFill>
              </a:rPr>
              <a:t>CIÊNCIA</a:t>
            </a:r>
            <a:r>
              <a:rPr lang="en-US" sz="3200">
                <a:solidFill>
                  <a:srgbClr val="244357"/>
                </a:solidFill>
              </a:rPr>
              <a:t> DE DADOS E </a:t>
            </a:r>
            <a:r>
              <a:rPr lang="en-US" sz="3200">
                <a:solidFill>
                  <a:srgbClr val="244357"/>
                </a:solidFill>
              </a:rPr>
              <a:t>ESTATÍSTICA</a:t>
            </a:r>
            <a:endParaRPr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PUC MINAS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14400" y="57486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44357"/>
                </a:solidFill>
                <a:latin typeface="Arial"/>
                <a:ea typeface="Arial"/>
                <a:cs typeface="Arial"/>
                <a:sym typeface="Arial"/>
              </a:rPr>
              <a:t>Professor: </a:t>
            </a:r>
            <a:r>
              <a:rPr lang="en-US" sz="3000">
                <a:solidFill>
                  <a:srgbClr val="244357"/>
                </a:solidFill>
              </a:rPr>
              <a:t>Murilo A. R. Bigoto</a:t>
            </a:r>
            <a:endParaRPr b="0" i="0" sz="3000" u="none" cap="none" strike="noStrike">
              <a:solidFill>
                <a:srgbClr val="2443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4610120"/>
            <a:ext cx="105156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8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MACHINE LEARNING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4148435"/>
            <a:ext cx="99626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3A8C3"/>
                </a:solidFill>
                <a:latin typeface="Arial"/>
                <a:ea typeface="Arial"/>
                <a:cs typeface="Arial"/>
                <a:sym typeface="Arial"/>
              </a:rPr>
              <a:t>Disciplina: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5138213" y="2935650"/>
            <a:ext cx="10845900" cy="44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Divisão em treino e teste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Validação Cruzada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Otimização de </a:t>
            </a: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hiperparâmetros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Diferentes Avaliações de Performance</a:t>
            </a: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EXEMPLO PRATICO</a:t>
            </a:r>
            <a:endParaRPr sz="275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1624" y="4681800"/>
            <a:ext cx="670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PAUTA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12076" y="46818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Ciclo de Vida de um Projeto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(CRISP-DM)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1556" y="2281238"/>
            <a:ext cx="5819700" cy="572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921550" y="8522200"/>
            <a:ext cx="5819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Cross-Industry Standard Process for Data Mining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Divisão de treino e teste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2574" y="2972544"/>
            <a:ext cx="9926293" cy="43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Divisão de treino e teste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7808969" y="1943850"/>
            <a:ext cx="92904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5"/>
                </a:solidFill>
              </a:rPr>
              <a:t>1. O Conceito Fundamental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 divisão de dados é a base da validação empírica em Machine Learning. O objetivo não é criar um modelo que acerte os dados que já vimos, mas sim um modelo que tenha poder preditivo sobre dados nunca antes vistos.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• Underfitting: O modelo é simples demais e não aprende nem o treino.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• Overfitting: O modelo "decora" o treino (incluindo o ruído) e falha no teste.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• Generalização: O "ponto doce" onde o modelo performa bem em ambos.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5"/>
                </a:solidFill>
              </a:rPr>
              <a:t>2. A Estrutura Clássica (Hold-out)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Para evitar o viés de seleção, dividimos o dataset original em: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	Conjunto de Treino (Training Set): Geralmente 70-80% dos dados. É usado para o algoritmo encontrar padrões e ajustar seus parâmetros internos.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	Conjunto de Teste (Test Set): Geralmente 20-30% dos dados. Funciona como um simulado do mundo real. Deve ser mantido isolado até o final do processo.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402348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Divisão de treino e teste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[Importante]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8906256" y="4320000"/>
            <a:ext cx="74340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Validação vs. Teste: Em projetos complexos, usa-se um terceiro conjunto (Validação) para ajustar hiperparâmetros. O Teste final só é tocado uma única vez para o reporte de performance.</a:t>
            </a:r>
            <a:endParaRPr b="1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Divisão de treino e teste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7519796" y="1739556"/>
            <a:ext cx="89301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3. Técnicas de Divisão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A. Estratificação (Stratification)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Utilizada principalmente em classificação. Garante que a proporção das classes (ex: 90% "não-fraude" e 10% "fraude") seja mantida idêntica tanto no treino quanto no teste. Sem isso, você corre o risco de treinar um modelo sem exemplos de uma classe minoritária.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B. Divisão Temporal (Time-based Split)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Para dados de séries temporais (preço de ações, vendas), o split aleatório é um erro.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• Errado: Treinar com dados de 2024 e testar com dados de 2023.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• Certo: Treinar com o passado, testar com o futuro (ex: Treino: Jan-Out; Teste: Nov-Dez).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4425" y="7157550"/>
            <a:ext cx="5260850" cy="27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Divisão de treino e teste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9253728" y="2775900"/>
            <a:ext cx="67482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5B0F00"/>
                </a:solidFill>
              </a:rPr>
              <a:t>A separação rigorosa entre treino e teste simula o cenário real de produção, garantindo que o modelo aprenda padrões genuínos em vez de memorizar dados, enquanto a aplicação das mesmas transformações do treino no teste assegura a consistência matemática e evita o vazamento de informações que inflariam artificialmente as métricas de performance.</a:t>
            </a:r>
            <a:endParaRPr b="1" sz="2700">
              <a:solidFill>
                <a:srgbClr val="5B0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Validação Cruzada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7680968" y="2694150"/>
            <a:ext cx="9619500" cy="48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validação cruzada é uma técnica estatística para avaliar a capacidade de generalização de um modelo, mitigando o viés associado a uma única partição de treino/teste. Em vez de confiar em um único "split", o dataset é particionado repetidamente.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Por que e onde usar?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É indispensável para: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1.	Seleção de Modelos:</a:t>
            </a:r>
            <a:r>
              <a:rPr lang="en-US" sz="2200"/>
              <a:t> Comparar diferentes algoritmos de forma justa.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2.	Ajuste de Hiperparâmetros: </a:t>
            </a:r>
            <a:r>
              <a:rPr lang="en-US" sz="2200"/>
              <a:t>Garantir que a configuração escolhida não está apenas "decorando" um subset específico.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3.	Datasets Pequenos:</a:t>
            </a:r>
            <a:r>
              <a:rPr lang="en-US" sz="2200"/>
              <a:t> Onde cada amostra é valiosa para o treinamento.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Validação Cruzada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9093" y="1943088"/>
            <a:ext cx="10041482" cy="59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Validação Cruzada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774" y="2688337"/>
            <a:ext cx="9883175" cy="49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Validação Cruzada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7415783" y="2020800"/>
            <a:ext cx="9125700" cy="6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Tipos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•</a:t>
            </a:r>
            <a:r>
              <a:rPr b="1" lang="en-US" sz="2200"/>
              <a:t> k-Fold</a:t>
            </a:r>
            <a:r>
              <a:rPr lang="en-US" sz="2200"/>
              <a:t>: O dataset é dividido em k partes. O modelo treina em k-1 e testa na parte restante.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• </a:t>
            </a:r>
            <a:r>
              <a:rPr b="1" lang="en-US" sz="2200"/>
              <a:t>Stratified k-Fold:</a:t>
            </a:r>
            <a:r>
              <a:rPr lang="en-US" sz="2200"/>
              <a:t> Essencial para classificação. Mantém a proporção das classes em cada fold, evitando que um fold contenha apenas uma classe.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• </a:t>
            </a:r>
            <a:r>
              <a:rPr b="1" lang="en-US" sz="2200"/>
              <a:t>Leave-One-Out (LOOCV):</a:t>
            </a:r>
            <a:r>
              <a:rPr lang="en-US" sz="2200"/>
              <a:t> Cada observação é um fold. Exaustivo computacionalmente, mas minimiza o viés.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•</a:t>
            </a:r>
            <a:r>
              <a:rPr b="1" lang="en-US" sz="2200"/>
              <a:t> Time Series Split:</a:t>
            </a:r>
            <a:r>
              <a:rPr lang="en-US" sz="2200"/>
              <a:t> Crucial para dados temporais. O treino sempre precede o teste no tempo para evitar o look-ahead bias.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• </a:t>
            </a:r>
            <a:r>
              <a:rPr b="1" lang="en-US" sz="2200"/>
              <a:t>Group k-Fold: </a:t>
            </a:r>
            <a:r>
              <a:rPr lang="en-US" sz="2200"/>
              <a:t>Garante que o mesmo grupo (ex: o mesmo cliente) não apareça no treino e no teste simultaneamente, testando a generalização para novos grupos.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Validação Cruzada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9091" y="2919971"/>
            <a:ext cx="10470850" cy="444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Validação Cruzada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7341" y="1519743"/>
            <a:ext cx="10463724" cy="627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Validação Cruzada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1386" y="3157725"/>
            <a:ext cx="8935975" cy="3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Tunagem / Otimização de </a:t>
            </a: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hiperparâmetros</a:t>
            </a: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8161135" y="3050100"/>
            <a:ext cx="82755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Parâmetros vs. Hiperparâmetros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Antes de ajustar, é vital distinguir os dois: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• </a:t>
            </a:r>
            <a:r>
              <a:rPr b="1" lang="en-US" sz="2000"/>
              <a:t>Parâmetros</a:t>
            </a:r>
            <a:r>
              <a:rPr lang="en-US" sz="2000"/>
              <a:t>: São aprendidos pelo algoritmo durante o treinamento (ex: os pesos w em uma regressão linear ou os pesos das conexões em uma rede neural). O cientista de dados não mexe neles diretamente.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• </a:t>
            </a:r>
            <a:r>
              <a:rPr b="1" lang="en-US" sz="2000"/>
              <a:t>Hiperparâmetros</a:t>
            </a:r>
            <a:r>
              <a:rPr lang="en-US" sz="2000"/>
              <a:t>: São as configurações definidas antes do treinamento começar. Eles controlam o comportamento do algoritmo e a complexidade do modelo (ex: a profundidade máxima de uma árvore, a força da regularização, o número de neurônios).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Tunagem / Otimização de hiperparâmetros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8835844" y="1291500"/>
            <a:ext cx="67482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5"/>
                </a:solidFill>
              </a:rPr>
              <a:t>A. Grid Search (Busca em Grade)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O Grid Search é exaustivo. Você define um "dicionário" de valores e o algoritmo testa todas as combinações.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• Como funciona: Se você testar 3 valores de learning_rate e 3 valores de max_depth, ele fará 9 rodadas de treinamento.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• Vantagem: Se o melhor valor estiver no seu grid, ele será encontrado.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• Desvantagem: Extremamente lento. Se adicionar um terceiro parâmetro com 3 valores, sobe para 27 rodadas. É o que chamamos de explosão combinatória.</a:t>
            </a:r>
            <a:endParaRPr sz="2100"/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2253" y="6709498"/>
            <a:ext cx="3760313" cy="30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Tunagem / Otimização de hiperparâmetros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7801390" y="1190025"/>
            <a:ext cx="8906400" cy="48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5"/>
                </a:solidFill>
              </a:rPr>
              <a:t>B. Random Search (Busca Aleatória)</a:t>
            </a:r>
            <a:endParaRPr b="1" sz="2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Em vez de testar tudo, ele seleciona combinações aleatórias dentro de um intervalo.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• Por que funciona? Estudos mostram que nem todos os hiperparâmetros são igualmente importantes. O Random Search não "gasta" tempo testando variações inúteis de um parâmetro secundário, explorando melhor o espaço de busca dos parâmetros vitais.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• Vantagem: Muito mais rápido e, estatisticamente, costuma encontrar um resultado tão bom quanto o Grid Search com uma fração do custo computacional.</a:t>
            </a:r>
            <a:endParaRPr sz="2200"/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0338" y="6545932"/>
            <a:ext cx="7048500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/>
        </p:nvSpPr>
        <p:spPr>
          <a:xfrm>
            <a:off x="655332" y="151332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Tunagem / Otimização de hiperparâmetros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8343850" y="2761500"/>
            <a:ext cx="8060400" cy="4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5"/>
                </a:solidFill>
              </a:rPr>
              <a:t>C. </a:t>
            </a:r>
            <a:r>
              <a:rPr b="1" lang="en-US" sz="2100">
                <a:solidFill>
                  <a:schemeClr val="accent5"/>
                </a:solidFill>
              </a:rPr>
              <a:t>Otimização Bayesiana (A "Busca Inteligente")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Diferente das anteriores, esta técnica é sequencial. Ela não chuta valores ao acaso.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• Como funciona: Ela constrói um modelo probabilístico para prever qual combinação de hiperparâmetros deve ser testada a seguir, baseando-se nos resultados das tentativas anteriores.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• Ferramentas: Bibliotecas como Optuna ou Hyperopt.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• Vantagem: Encontra ótimos resultados em espaços de busca imensos com muito menos iterações.</a:t>
            </a:r>
            <a:endParaRPr sz="2100"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889" y="5374896"/>
            <a:ext cx="7404971" cy="438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Tunagem / Otimização de hiperparâmetros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7004357" y="2392398"/>
            <a:ext cx="10116600" cy="52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Um erro comum é tunar hiperparâmetros usando o conjunto de teste. Se você faz isso, o seu modelo "vicia" no teste e a métrica final será otimista demais (mentirosa).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Para resolver isso, usamos a Validação Cruzada integrada à busca: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	O dataset é dividido em Treino e Teste.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	O conjunto de Treino entra no GridSearchCV.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	Dentro do GridSearchCV, o treino é subdividido (K-Fold). Para cada combinação de hiperparâmetros, o modelo treina em k-1 folds e valida no fold restante.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4.	A combinação que tiver a melhor média de performance na validação interna é escolhida.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5.	O veredito final: Só agora o modelo (com os melhores parâmetros) é testado no conjunto de Teste original que ficou guardado desde o início.</a:t>
            </a:r>
            <a:endParaRPr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Tunagem / Otimização de hiperparâmetros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7" name="Google Shape;217;p33"/>
          <p:cNvSpPr txBox="1"/>
          <p:nvPr/>
        </p:nvSpPr>
        <p:spPr>
          <a:xfrm>
            <a:off x="7619201" y="2958750"/>
            <a:ext cx="85200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Definindo o espaço de busca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param_grid = 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'n_estimators': [100, 200, 500],   # Número de árvores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'max_depth': [None, 10, 20, 30],    # Profundidade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'min_samples_split': [2, 5, 10],    # Quantos dados para abrir novo ramo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'criterion': ['gini', 'entropy']    # Forma de medir a pureza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Configurando a busca com Validação Cruzada (5 folds)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busca = GridSearchCV(RandomForestClassifier(), param_grid, cv=5)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 O modelo vai treinar 3 * 4 * 3 * 2 * 5 (folds) = 360 vezes!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busca.fit(X_train, y_train)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print(f"Melhores parâmetros: {busca.best_params_}")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Métricas de Performance -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Classificação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23" name="Google Shape;2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2484" y="1333500"/>
            <a:ext cx="7620000" cy="76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Métricas de Performance -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Classificação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29" name="Google Shape;2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0208" y="2234948"/>
            <a:ext cx="8662925" cy="58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Métricas de Performance -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Classificação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35" name="Google Shape;23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0964" y="3492788"/>
            <a:ext cx="11234868" cy="3301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Métricas de Performance -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Classificação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41" name="Google Shape;241;p37"/>
          <p:cNvPicPr preferRelativeResize="0"/>
          <p:nvPr/>
        </p:nvPicPr>
        <p:blipFill rotWithShape="1">
          <a:blip r:embed="rId3">
            <a:alphaModFix/>
          </a:blip>
          <a:srcRect b="19433" l="0" r="0" t="0"/>
          <a:stretch/>
        </p:blipFill>
        <p:spPr>
          <a:xfrm>
            <a:off x="7022655" y="3775763"/>
            <a:ext cx="10375326" cy="273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Métricas de Performance -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Classificação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47" name="Google Shape;24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32" y="3083163"/>
            <a:ext cx="11234869" cy="4120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Métricas de Performance -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Classificação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53" name="Google Shape;2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25" y="2745238"/>
            <a:ext cx="10542050" cy="479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Métricas de Performance -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Classificação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59" name="Google Shape;2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5515" y="2878191"/>
            <a:ext cx="6655800" cy="54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0"/>
          <p:cNvSpPr txBox="1"/>
          <p:nvPr/>
        </p:nvSpPr>
        <p:spPr>
          <a:xfrm>
            <a:off x="8665514" y="1641348"/>
            <a:ext cx="6655800" cy="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AUC ROC - </a:t>
            </a:r>
            <a:r>
              <a:rPr b="1" lang="en-US" sz="1700"/>
              <a:t>Mede a capacidade do modelo de dar um score de probabilidade maior para uma classe positiva do que para uma negativa, calculando a área sob a curva TPR vs FPR.</a:t>
            </a:r>
            <a:endParaRPr b="1" sz="1700"/>
          </a:p>
        </p:txBody>
      </p:sp>
      <p:pic>
        <p:nvPicPr>
          <p:cNvPr id="261" name="Google Shape;26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26184" y="6990599"/>
            <a:ext cx="2243325" cy="72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0"/>
          <p:cNvSpPr txBox="1"/>
          <p:nvPr/>
        </p:nvSpPr>
        <p:spPr>
          <a:xfrm>
            <a:off x="15480796" y="2605250"/>
            <a:ext cx="32460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avaliar a "ordenação" do modelo, independentemente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do limiar de corte (threshold).</a:t>
            </a:r>
            <a:endParaRPr/>
          </a:p>
        </p:txBody>
      </p:sp>
      <p:pic>
        <p:nvPicPr>
          <p:cNvPr id="263" name="Google Shape;26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0488" y="8367650"/>
            <a:ext cx="4245874" cy="166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Métricas de Performance -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Classificação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3373" y="2210874"/>
            <a:ext cx="9787074" cy="58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Métricas de Performance -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Regressão</a:t>
            </a: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75" name="Google Shape;275;p42"/>
          <p:cNvPicPr preferRelativeResize="0"/>
          <p:nvPr/>
        </p:nvPicPr>
        <p:blipFill rotWithShape="1">
          <a:blip r:embed="rId3">
            <a:alphaModFix/>
          </a:blip>
          <a:srcRect b="17697" l="1580" r="-1580" t="10069"/>
          <a:stretch/>
        </p:blipFill>
        <p:spPr>
          <a:xfrm>
            <a:off x="7924855" y="2583175"/>
            <a:ext cx="8619576" cy="51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/>
        </p:nvSpPr>
        <p:spPr>
          <a:xfrm>
            <a:off x="502932" y="3296400"/>
            <a:ext cx="6245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Métricas de Performance -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2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3A8C3"/>
                </a:solidFill>
                <a:latin typeface="Arial Black"/>
                <a:ea typeface="Arial Black"/>
                <a:cs typeface="Arial Black"/>
                <a:sym typeface="Arial Black"/>
              </a:rPr>
              <a:t>Regressão </a:t>
            </a:r>
            <a:endParaRPr sz="4800">
              <a:solidFill>
                <a:srgbClr val="23A8C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81" name="Google Shape;28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313" y="2282952"/>
            <a:ext cx="36861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3"/>
          <p:cNvSpPr txBox="1"/>
          <p:nvPr/>
        </p:nvSpPr>
        <p:spPr>
          <a:xfrm>
            <a:off x="11420846" y="2282938"/>
            <a:ext cx="62454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Por que usar: Dá uma visão linear do erro na mesma unidade da variável. Não é tão sensível a outliers.</a:t>
            </a:r>
            <a:endParaRPr sz="1800"/>
          </a:p>
        </p:txBody>
      </p:sp>
      <p:sp>
        <p:nvSpPr>
          <p:cNvPr id="283" name="Google Shape;283;p43"/>
          <p:cNvSpPr txBox="1"/>
          <p:nvPr/>
        </p:nvSpPr>
        <p:spPr>
          <a:xfrm>
            <a:off x="11420860" y="3025750"/>
            <a:ext cx="6867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Exemplo: Previsão de tempo de entrega do iFood em minutos.</a:t>
            </a:r>
            <a:endParaRPr/>
          </a:p>
        </p:txBody>
      </p:sp>
      <p:pic>
        <p:nvPicPr>
          <p:cNvPr id="284" name="Google Shape;28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8326" y="4471999"/>
            <a:ext cx="4081401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3"/>
          <p:cNvSpPr txBox="1"/>
          <p:nvPr/>
        </p:nvSpPr>
        <p:spPr>
          <a:xfrm>
            <a:off x="11420844" y="4472000"/>
            <a:ext cx="6245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Como os erros são elevados ao quadrado, o RMSE "grita" quando o modelo comete erros muito grandes. Usa-se quando grandes desvios são catastróficos.</a:t>
            </a:r>
            <a:endParaRPr sz="1800"/>
          </a:p>
        </p:txBody>
      </p:sp>
      <p:sp>
        <p:nvSpPr>
          <p:cNvPr id="286" name="Google Shape;286;p43"/>
          <p:cNvSpPr txBox="1"/>
          <p:nvPr/>
        </p:nvSpPr>
        <p:spPr>
          <a:xfrm>
            <a:off x="11420850" y="5493500"/>
            <a:ext cx="62454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Temperatura de uma turbina de avião. Errar por 1 grau 10 vezes é aceitável. Errar por 10 graus uma vez pode derreter a peça.</a:t>
            </a:r>
            <a:endParaRPr/>
          </a:p>
        </p:txBody>
      </p:sp>
      <p:pic>
        <p:nvPicPr>
          <p:cNvPr id="287" name="Google Shape;28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3288" y="6661050"/>
            <a:ext cx="3791463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3"/>
          <p:cNvSpPr txBox="1"/>
          <p:nvPr/>
        </p:nvSpPr>
        <p:spPr>
          <a:xfrm>
            <a:off x="11420850" y="6543450"/>
            <a:ext cx="62454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Indica qual a porcentagem da variância dos dados o modelo consegue explicar.</a:t>
            </a:r>
            <a:endParaRPr sz="1800"/>
          </a:p>
        </p:txBody>
      </p:sp>
      <p:pic>
        <p:nvPicPr>
          <p:cNvPr id="289" name="Google Shape;289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20850" y="7286250"/>
            <a:ext cx="4826464" cy="10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