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5b4c30c2713715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75b4c30c271371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5b4c30c2713715f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75b4c30c2713715f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5b4c30c2713715f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75b4c30c2713715f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5b4c30c2713715f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75b4c30c2713715f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5b4c30c2713715f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75b4c30c2713715f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5b4c30c2713715f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75b4c30c2713715f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5b4c30c2713715f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75b4c30c2713715f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5b4c30c2713715f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75b4c30c2713715f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5b4c30c2713715f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75b4c30c2713715f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5b4c30c2713715f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75b4c30c2713715f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5b4c30c2713715f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75b4c30c2713715f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5b4c30c2713715f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75b4c30c2713715f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5b4c30c2713715f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75b4c30c2713715f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5b4c30c2713715f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75b4c30c2713715f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5b4c30c2713715f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75b4c30c2713715f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75b4c30c2713715f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75b4c30c2713715f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5b4c30c2713715f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75b4c30c2713715f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950f4a5adb6c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a950f4a5adb6c3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5defaa86091d0e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15defaa86091d0e8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5defaa86091d0e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5defaa86091d0e8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5defaa86091d0e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15defaa86091d0e8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defaa86091d0e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5defaa86091d0e8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5defaa86091d0e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5defaa86091d0e8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701310" y="419100"/>
            <a:ext cx="15824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</a:t>
            </a:r>
            <a:r>
              <a:rPr lang="en-US" sz="3200">
                <a:solidFill>
                  <a:srgbClr val="244357"/>
                </a:solidFill>
              </a:rPr>
              <a:t>CIÊNCIA</a:t>
            </a:r>
            <a:r>
              <a:rPr lang="en-US" sz="3200">
                <a:solidFill>
                  <a:srgbClr val="244357"/>
                </a:solidFill>
              </a:rPr>
              <a:t> DE DADOS E </a:t>
            </a:r>
            <a:r>
              <a:rPr lang="en-US" sz="3200">
                <a:solidFill>
                  <a:srgbClr val="244357"/>
                </a:solidFill>
              </a:rPr>
              <a:t>ESTATÍSTICA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3000">
                <a:solidFill>
                  <a:srgbClr val="244357"/>
                </a:solidFill>
              </a:rPr>
              <a:t>Murilo A. R. Bigoto</a:t>
            </a:r>
            <a:endParaRPr b="0" i="0" sz="3000" u="none" cap="none" strike="noStrike">
              <a:solidFill>
                <a:srgbClr val="2443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61012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138213" y="2445000"/>
            <a:ext cx="10845900" cy="5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 Passo Zero – Análise Exploratória de Dados (EDA)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Pontos Relevantes em Modelagem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Enfoque: Pré-processamento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45720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Tratamento de Dados Ausentes (Missing Data)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45720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Engenharia de Atributo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0" marL="45720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EXEMPLO PRATICO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1624" y="4681800"/>
            <a:ext cx="670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PAUTA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12076" y="46818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Ciclo de Vida de um Projeto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(CRISP-DM)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556" y="2281238"/>
            <a:ext cx="5819700" cy="572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921550" y="8522200"/>
            <a:ext cx="5819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Cross-Industry Standard Process for Data Mining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Análise Exploratória de Dados (EDA): O Mapa da Mina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643243" y="2065050"/>
            <a:ext cx="88518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• Inspeção Estatística: Distribuição (assimetria/curtose), medidas de tendência central e dispersão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• Análise de Correlação: Identificação de multicolinearidade (Pearson, Spearman) e redundânc</a:t>
            </a: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ia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• Visualização Diagnóstica: Boxplots para outliers, histogramas para densidade e scatter plots para relações não-lineares.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• Identificação de Padrões de Missing: Os dados faltam de forma aleatória ou estruturada?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Conceito Chave: A EDA dita quais técnicas de pré-processamento serão escolhidas a seguir.</a:t>
            </a:r>
            <a:endParaRPr b="1" sz="22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Análise Exploratória de Dados (EDA): O Mapa da Mina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3102" y="1544899"/>
            <a:ext cx="8996501" cy="71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Análise Exploratória de Dados (EDA): O Mapa da Mina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223" y="2247513"/>
            <a:ext cx="8687949" cy="579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Análise Exploratória de Dados (EDA): O Mapa da Mina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048" y="1937000"/>
            <a:ext cx="6413002" cy="641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Análise Exploratória de Dados (EDA): O Mapa da Mina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2125625" y="7159752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https://towardsdatascience.com/5-advanced-visualisation-for-exploratory-data-analysis-eda-c8eafeb0b8cb/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3195" l="0" r="0" t="0"/>
          <a:stretch/>
        </p:blipFill>
        <p:spPr>
          <a:xfrm>
            <a:off x="6505826" y="1943100"/>
            <a:ext cx="11136002" cy="62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Pontos Relevantes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8513060" y="3030900"/>
            <a:ext cx="7973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Por que Feature Engineering?</a:t>
            </a:r>
            <a:endParaRPr b="1" sz="2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• "Dados são o novo petróleo, mas o Feature Engineering é a refinaria."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• Garbage In, Garbage Out: O melhor algoritmo não sobrevive a dados mal preparados.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Pontos Relevantes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296965" y="3232950"/>
            <a:ext cx="102870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Principal Objetivo:</a:t>
            </a:r>
            <a:r>
              <a:rPr lang="en-US" sz="2600"/>
              <a:t> Desenvolver algoritmos que </a:t>
            </a:r>
            <a:r>
              <a:rPr lang="en-US" sz="2600"/>
              <a:t>façam boa predição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Principais razões pelas quais algoritmos às vezes não apresentam boa performance preditiva:</a:t>
            </a:r>
            <a:endParaRPr b="1" sz="2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Extrapolação inadequada dos resultados.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- Pré-processamento inadequado dos dados.</a:t>
            </a:r>
            <a:endParaRPr b="1"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Sobreajuste (mais importante).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Validação inadequada da qualidade dos algoritmos.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Extrapolação inadequada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748325" y="3232950"/>
            <a:ext cx="10287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Desenvolver os algoritmos para uma população e esperar que funcionem corretamente para outra diferente.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Importar algoritmos dos EUA/Europa: nossas características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genéticas e socioeconômicas são muito diferentes.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Extrapolação para períodos diferentes (cuidado com sazonais).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448081" y="3296400"/>
            <a:ext cx="6574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de Dados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(Intro)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8028485" y="3232950"/>
            <a:ext cx="67758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Técnicas de pré-processamento de dados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Seleção das variáveis.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Vazamento de dados.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Padronização.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Redução de dimensão.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Colinearidade.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Valores missing.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One-hot encoding.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8046763" y="3435000"/>
            <a:ext cx="9482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Preditores plausíveis: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Pré-selecionar variáveis que sejam preditoras plausíveis (bom senso do cientista/analista).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Coincidências acontecem em análises de big data e pode ser que o algoritmo dê muita importância para associações espúrias.</a:t>
            </a:r>
            <a:endParaRPr sz="2600"/>
          </a:p>
        </p:txBody>
      </p:sp>
      <p:sp>
        <p:nvSpPr>
          <p:cNvPr id="166" name="Google Shape;166;p25"/>
          <p:cNvSpPr txBox="1"/>
          <p:nvPr/>
        </p:nvSpPr>
        <p:spPr>
          <a:xfrm>
            <a:off x="448081" y="3296400"/>
            <a:ext cx="6574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de Dados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(Intro)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609" y="2269400"/>
            <a:ext cx="10335776" cy="574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448081" y="3296400"/>
            <a:ext cx="6574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de Dados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(Intro)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7671824" y="3030900"/>
            <a:ext cx="97476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2"/>
                </a:solidFill>
              </a:rPr>
              <a:t>Cuidado com vazamento de informação (“data leakage”)</a:t>
            </a:r>
            <a:endParaRPr b="1" sz="2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Acontece quando os dados de treino apresentam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informação escondida que faz com que o modelo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aprenda padrões que não são do seu interesse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Uma variável preditora tem escondida o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resultado certo: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- Não é a variável que está predizendo o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desfecho, mas o desfecho que está predizendo ela</a:t>
            </a:r>
            <a:endParaRPr sz="2600"/>
          </a:p>
        </p:txBody>
      </p:sp>
      <p:sp>
        <p:nvSpPr>
          <p:cNvPr id="178" name="Google Shape;178;p27"/>
          <p:cNvSpPr txBox="1"/>
          <p:nvPr/>
        </p:nvSpPr>
        <p:spPr>
          <a:xfrm>
            <a:off x="448081" y="3296400"/>
            <a:ext cx="6574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de Dados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(Intro)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502924" y="3296400"/>
            <a:ext cx="670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e Limpeza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7598672" y="3232950"/>
            <a:ext cx="97476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Tratamento de Dados Faltantes (Imputação)</a:t>
            </a:r>
            <a:endParaRPr b="1" sz="2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Natureza do dado perdido: Aleatório (Acaso ou Missing explicado por outra variável) ou Intensional (ex.: Alto Salario omitido no IR)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Técnicas: Imputação por média/mediana, K-Nearest Neighbors (KNN) Imputer e Regressão (Multivariate Imputation)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7690112" y="1525518"/>
            <a:ext cx="97476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Tratamento de Outliers</a:t>
            </a:r>
            <a:endParaRPr b="1" sz="2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</a:t>
            </a:r>
            <a:r>
              <a:rPr lang="en-US" sz="2600"/>
              <a:t>Detecção: Método do IQR (Boxplots) e Z-Score.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</a:t>
            </a:r>
            <a:r>
              <a:rPr lang="en-US" sz="2600"/>
              <a:t>Ações: Trimming (Remoção), Capping (Limitar) ou tratamento como categoria separada.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788" y="4134625"/>
            <a:ext cx="8534226" cy="406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655324" y="3448800"/>
            <a:ext cx="670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e Limpeza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7251200" y="1173064"/>
            <a:ext cx="97476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Encoding de Variáveis Categóricas</a:t>
            </a:r>
            <a:endParaRPr b="1" sz="2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Nominais: One-Hot Encoding (cuidado com a Dummy Variable Trap)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Ordinais: Label Encoding (preservando a hierarquia)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High Cardinality: Target Encoding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724" y="6752846"/>
            <a:ext cx="5132124" cy="26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8564" y="6812252"/>
            <a:ext cx="57912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1489" y="5137420"/>
            <a:ext cx="3343017" cy="447597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 txBox="1"/>
          <p:nvPr/>
        </p:nvSpPr>
        <p:spPr>
          <a:xfrm>
            <a:off x="655324" y="3448800"/>
            <a:ext cx="670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e Limpeza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/>
        </p:nvSpPr>
        <p:spPr>
          <a:xfrm>
            <a:off x="7635248" y="1943100"/>
            <a:ext cx="97476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Escalonamento de Features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Standardization (Z-Score): Centralização na média e escala unitária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Normalization (Min-Max): Intervalo [0, 1]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Por que fazer? Essencial para algoritmos de distância e otimização de gradientes</a:t>
            </a:r>
            <a:endParaRPr b="1"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806" y="6749808"/>
            <a:ext cx="13221304" cy="29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655324" y="3448800"/>
            <a:ext cx="6702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Pré-processamento e Limpeza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/>
        </p:nvSpPr>
        <p:spPr>
          <a:xfrm>
            <a:off x="7147349" y="2424890"/>
            <a:ext cx="97476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Matemática</a:t>
            </a:r>
            <a:r>
              <a:rPr lang="en-US" sz="2600"/>
              <a:t>: Razões, diferenças e transformações logarítmicas/polinomiais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Sazonalidade</a:t>
            </a:r>
            <a:r>
              <a:rPr lang="en-US" sz="2600"/>
              <a:t>: Extração de componentes de data/hora (seno/cosseno para ciclicidade)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Agregações</a:t>
            </a:r>
            <a:r>
              <a:rPr lang="en-US" sz="2600"/>
              <a:t>: Métricas de comportamento acumulado (ex: média de gastos 30d)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Séries Temporais:</a:t>
            </a:r>
            <a:r>
              <a:rPr lang="en-US" sz="2600"/>
              <a:t> Lag, dia da semana, janelas móveis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13" name="Google Shape;213;p3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Criação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7680968" y="3030900"/>
            <a:ext cx="97476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Redução de Dimensão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Via PCA e outros </a:t>
            </a:r>
            <a:r>
              <a:rPr lang="en-US" sz="2600"/>
              <a:t>métodos de projeção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19" name="Google Shape;219;p3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 e Redução de 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Dimensionalidade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0974" y="5198050"/>
            <a:ext cx="8128999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/>
        </p:nvSpPr>
        <p:spPr>
          <a:xfrm>
            <a:off x="7680968" y="3734988"/>
            <a:ext cx="97476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Seleção de Features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Conceito: Métricas estatísticas independentes do modelo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Exemplos: Chi-Square, T test, ANOVA, Correlação e Variância (remover colunas constantes)</a:t>
            </a:r>
            <a:endParaRPr sz="2600"/>
          </a:p>
        </p:txBody>
      </p:sp>
      <p:sp>
        <p:nvSpPr>
          <p:cNvPr id="226" name="Google Shape;226;p3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 e Redução de Dimensionalidade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/>
        </p:nvSpPr>
        <p:spPr>
          <a:xfrm>
            <a:off x="7717544" y="3637038"/>
            <a:ext cx="97476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Seleção de Features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Conceito: Otimização baseada na performance de um modelo específico.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Técnicas: Forward Selection, Backward Elimination e RFE (Recursive Feature Elimination).</a:t>
            </a:r>
            <a:endParaRPr sz="2600"/>
          </a:p>
        </p:txBody>
      </p:sp>
      <p:sp>
        <p:nvSpPr>
          <p:cNvPr id="232" name="Google Shape;232;p3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 e Redução de Dimensionalidade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/>
        </p:nvSpPr>
        <p:spPr>
          <a:xfrm>
            <a:off x="7680968" y="2424888"/>
            <a:ext cx="97476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Seleção de Features</a:t>
            </a:r>
            <a:r>
              <a:rPr lang="en-US" sz="2600"/>
              <a:t> - Embedded Methods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A Seleção Intrínseca:</a:t>
            </a:r>
            <a:endParaRPr sz="26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Regularização L1 (Lasso): Força coeficientes a zero, realizando seleção natural</a:t>
            </a:r>
            <a:endParaRPr sz="26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Tree-based Importance: Gini Importance e Permutation Importance em modelos de Florestas (Random Forest/XGBoost)</a:t>
            </a:r>
            <a:endParaRPr sz="26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Vantagem: Considera a interação entre atributos com custo menor</a:t>
            </a:r>
            <a:endParaRPr b="1"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38" name="Google Shape;238;p3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 e Redução de Dimensionalidade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/>
        </p:nvSpPr>
        <p:spPr>
          <a:xfrm>
            <a:off x="6748326" y="2299800"/>
            <a:ext cx="10680300" cy="5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Seleção de Features via Shadow</a:t>
            </a:r>
            <a:r>
              <a:rPr lang="en-US" sz="2600"/>
              <a:t> - Boruta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Conceito: Método de seleção baseado em Random Forest que distingue variáveis importantes de variáveis que apenas têm "sorte"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• O Mecanismo das Sombras: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1.	Cria-se uma cópia de cada variável original, mas com os valores embaralhados (Shadow Features).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2.	Treina-se uma Random Forest com o dataset expandido (Originais + Sombras).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3.	Compara-se a importância da variável original com a melhor das variáveis sombra.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O Boruta é um algoritmo "justiceiro". O grande problema de usar apenas o feature_importance padrão do Random Forest é que variáveis com muito ruído ou muitas categorias podem parecer importantes puramente por acaso.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44" name="Google Shape;244;p3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Seleção de Atributos e Redução de Dimensionalidade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